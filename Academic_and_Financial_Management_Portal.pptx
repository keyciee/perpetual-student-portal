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(OPENING):
Good day, Sir/Ma'am and classmates. Today, Group 1 is proud to present our project: The Academic and Financial Management Portal for the University of Perpetual Help System DALTA – Molino Campus.
Our team consists of 5 members: Yeshua Cyrus Bautista, Kelvin Charles Cancio, Angella Shaolla Casul, John Christian Estay, and Mickey John Roldan.
We designed this portal to solve the daily bottlenecks students experience with scattered academic records and long cashier queues. Let's begin with the project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Before diving into the system screens, let's understand why we built this portal.
Currently, students deal with fragmented platforms: grades are in one place, schedules in another, and paying tuition means falling in long lines at the cashier.
Our portal eliminates this friction by bringing together academic records, daily schedules, and cashless tuition settlement in one single, responsive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DEMO SCRIPT:
- Start at login.html.
- Point out the Molino Campus branding and official university motto.
- Explain that this is the secure front door of the portal: students enter their registered Student ID and password.
- Click 'Sign In to Portal' to show the immediate transition into the Student Dashboard.
- Hand-off: 'Now, I will pass the floor to [Speaker 2 Name] to present our Centralized Student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CASUL, ANGELLA SHAOLLA (DEMO CUES):
- Point out the left sidebar navigation.
- Show the greeting and term study pacing bar.
- Highlight the AI Smart Suggestions card for upcoming deadlines.
- Scroll through Today's Class Timeline and room numbers.
- Point out the quick Tuition Snapshot card.
- Hand off to Estay for Academics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ESTAY, JOHN CHRISTIAN (DEMO CUES):
- Click 'Academics' on the left navigation bar.
- Point to the student profile banner (Student ID, BSIT 3rd Year, GPA 1.28).
- Show the Enrolled Subjects table and toggle year level tabs.
- Demonstrate the Assignment Submission Vault file upload on the right.
- Hand off to Yeshua for Finance &amp; Perpetual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BAUTISTA, YESHUA CYRUS (DEMO CUES):
- Click 'Finance' on the left menu.
- Show the virtual Perpetual DALTA Card and live balance.
- Click 'Cash In to Card', select ₱1,000, and simulate the cash-in.
- Highlight the generated Molino Electronic Official Receipt (address, OR #, audit stamp).
- Return to Finance to show the updated Statement of Account &amp; ledger.
- Hand off to Roldan for Portal Settings &amp;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DEMO SCRIPT:
- Click 'Settings' on the left navigation bar (settings.html).
- Show the student profile information: name, student ID, and official email.
- Demonstrate the toggle switches: AI Assistant, Grade Notifications, and Fast Checkout.
- Click 'Save Preferences' to show confirmation feedback.
- Summarize: 'In conclusion, our portal bridges the gap between academic progress and financial settlements, providing a fast, modern experience for Perpetual Molino students.'
- Conclude: 'Thank you very much, and we are now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STATEMENT:
That concludes our presentation of the Academic and Financial Management Portal for UPHSD Molino Campus.
We invite our professor and classmates to ask any questions or request specific live demonstrations of our features.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31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9D2B"/>
          </a:solidFill>
          <a:ln w="12700">
            <a:solidFill>
              <a:srgbClr val="C89D2B"/>
            </a:solidFill>
            <a:prstDash val="solid"/>
          </a:ln>
        </p:spPr>
      </p:sp>
      <p:sp>
        <p:nvSpPr>
          <p:cNvPr id="3" name="Text 1"/>
          <p:cNvSpPr/>
          <p:nvPr/>
        </p:nvSpPr>
        <p:spPr>
          <a:xfrm>
            <a:off x="731520" y="731520"/>
            <a:ext cx="7680960" cy="320040"/>
          </a:xfrm>
          <a:prstGeom prst="rect">
            <a:avLst/>
          </a:prstGeom>
          <a:noFill/>
          <a:ln/>
        </p:spPr>
        <p:txBody>
          <a:bodyPr wrap="square" lIns="0" tIns="0" rIns="0" bIns="0" rtlCol="0" anchor="ctr"/>
          <a:lstStyle/>
          <a:p>
            <a:pPr indent="0" marL="0">
              <a:buNone/>
            </a:pPr>
            <a:r>
              <a:rPr lang="en-US" sz="1300" b="1" dirty="0">
                <a:solidFill>
                  <a:srgbClr val="C89D2B"/>
                </a:solidFill>
                <a:latin typeface="Arial" pitchFamily="34" charset="0"/>
                <a:ea typeface="Arial" pitchFamily="34" charset="-122"/>
                <a:cs typeface="Arial" pitchFamily="34" charset="-120"/>
              </a:rPr>
              <a:t>UNIVERSITY OF PERPETUAL HELP SYSTEM DALTA</a:t>
            </a:r>
            <a:endParaRPr lang="en-US" sz="1300" dirty="0"/>
          </a:p>
        </p:txBody>
      </p:sp>
      <p:sp>
        <p:nvSpPr>
          <p:cNvPr id="4" name="Text 2"/>
          <p:cNvSpPr/>
          <p:nvPr/>
        </p:nvSpPr>
        <p:spPr>
          <a:xfrm>
            <a:off x="731520" y="1051560"/>
            <a:ext cx="7680960" cy="22860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MOLINO CAMPUS • CITY OF BACOOR, CAVITE</a:t>
            </a:r>
            <a:endParaRPr lang="en-US" sz="950" dirty="0"/>
          </a:p>
        </p:txBody>
      </p:sp>
      <p:sp>
        <p:nvSpPr>
          <p:cNvPr id="5" name="Text 3"/>
          <p:cNvSpPr/>
          <p:nvPr/>
        </p:nvSpPr>
        <p:spPr>
          <a:xfrm>
            <a:off x="731520" y="1463040"/>
            <a:ext cx="7680960" cy="118872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Arial" pitchFamily="34" charset="0"/>
                <a:ea typeface="Arial" pitchFamily="34" charset="-122"/>
                <a:cs typeface="Arial" pitchFamily="34" charset="-120"/>
              </a:rPr>
              <a:t>Academic &amp; Financial</a:t>
            </a:r>
            <a:endParaRPr lang="en-US" sz="3000" dirty="0"/>
          </a:p>
          <a:p>
            <a:pPr indent="0" marL="0">
              <a:lnSpc>
                <a:spcPct val="110000"/>
              </a:lnSpc>
              <a:buNone/>
            </a:pPr>
            <a:r>
              <a:rPr lang="en-US" sz="3000" b="1" dirty="0">
                <a:solidFill>
                  <a:srgbClr val="FFFFFF"/>
                </a:solidFill>
                <a:latin typeface="Arial" pitchFamily="34" charset="0"/>
                <a:ea typeface="Arial" pitchFamily="34" charset="-122"/>
                <a:cs typeface="Arial" pitchFamily="34" charset="-120"/>
              </a:rPr>
              <a:t>Management Portal</a:t>
            </a:r>
            <a:endParaRPr lang="en-US" sz="3000" dirty="0"/>
          </a:p>
        </p:txBody>
      </p:sp>
      <p:sp>
        <p:nvSpPr>
          <p:cNvPr id="6" name="Text 4"/>
          <p:cNvSpPr/>
          <p:nvPr/>
        </p:nvSpPr>
        <p:spPr>
          <a:xfrm>
            <a:off x="731520" y="2743200"/>
            <a:ext cx="7680960" cy="411480"/>
          </a:xfrm>
          <a:prstGeom prst="rect">
            <a:avLst/>
          </a:prstGeom>
          <a:noFill/>
          <a:ln/>
        </p:spPr>
        <p:txBody>
          <a:bodyPr wrap="square" lIns="0" tIns="0" rIns="0" bIns="0" rtlCol="0" anchor="ctr"/>
          <a:lstStyle/>
          <a:p>
            <a:pPr indent="0" marL="0">
              <a:buNone/>
            </a:pPr>
            <a:r>
              <a:rPr lang="en-US" sz="1100" dirty="0">
                <a:solidFill>
                  <a:srgbClr val="E2E8F0"/>
                </a:solidFill>
                <a:latin typeface="Arial" pitchFamily="34" charset="0"/>
                <a:ea typeface="Arial" pitchFamily="34" charset="-122"/>
                <a:cs typeface="Arial" pitchFamily="34" charset="-120"/>
              </a:rPr>
              <a:t>An Integrated Web Portal for Student Information, Academics Vault &amp; Cashierless Financial Settlement</a:t>
            </a:r>
            <a:endParaRPr lang="en-US" sz="1100" dirty="0"/>
          </a:p>
        </p:txBody>
      </p:sp>
      <p:sp>
        <p:nvSpPr>
          <p:cNvPr id="7" name="Shape 5"/>
          <p:cNvSpPr/>
          <p:nvPr/>
        </p:nvSpPr>
        <p:spPr>
          <a:xfrm>
            <a:off x="731520" y="3337560"/>
            <a:ext cx="7680960" cy="1325880"/>
          </a:xfrm>
          <a:prstGeom prst="rect">
            <a:avLst/>
          </a:prstGeom>
          <a:solidFill>
            <a:srgbClr val="540C0E"/>
          </a:solidFill>
          <a:ln w="12700">
            <a:solidFill>
              <a:srgbClr val="C89D2B"/>
            </a:solidFill>
            <a:prstDash val="solid"/>
          </a:ln>
        </p:spPr>
      </p:sp>
      <p:sp>
        <p:nvSpPr>
          <p:cNvPr id="8" name="Text 6"/>
          <p:cNvSpPr/>
          <p:nvPr/>
        </p:nvSpPr>
        <p:spPr>
          <a:xfrm>
            <a:off x="1005840" y="3474720"/>
            <a:ext cx="3200400" cy="228600"/>
          </a:xfrm>
          <a:prstGeom prst="rect">
            <a:avLst/>
          </a:prstGeom>
          <a:noFill/>
          <a:ln/>
        </p:spPr>
        <p:txBody>
          <a:bodyPr wrap="square" lIns="0" tIns="0" rIns="0" bIns="0" rtlCol="0" anchor="ctr"/>
          <a:lstStyle/>
          <a:p>
            <a:pPr indent="0" marL="0">
              <a:buNone/>
            </a:pPr>
            <a:r>
              <a:rPr lang="en-US" sz="950" b="1" dirty="0">
                <a:solidFill>
                  <a:srgbClr val="C89D2B"/>
                </a:solidFill>
                <a:latin typeface="Arial" pitchFamily="34" charset="0"/>
                <a:ea typeface="Arial" pitchFamily="34" charset="-122"/>
                <a:cs typeface="Arial" pitchFamily="34" charset="-120"/>
              </a:rPr>
              <a:t>GROUP 1 PRESENTERS</a:t>
            </a:r>
            <a:endParaRPr lang="en-US" sz="950" dirty="0"/>
          </a:p>
        </p:txBody>
      </p:sp>
      <p:sp>
        <p:nvSpPr>
          <p:cNvPr id="9" name="Text 7"/>
          <p:cNvSpPr/>
          <p:nvPr/>
        </p:nvSpPr>
        <p:spPr>
          <a:xfrm>
            <a:off x="1005840" y="3749040"/>
            <a:ext cx="3474720" cy="777240"/>
          </a:xfrm>
          <a:prstGeom prst="rect">
            <a:avLst/>
          </a:prstGeom>
          <a:noFill/>
          <a:ln/>
        </p:spPr>
        <p:txBody>
          <a:bodyPr wrap="square" lIns="0" tIns="0" rIns="0" bIns="0" rtlCol="0" anchor="ctr"/>
          <a:lstStyle/>
          <a:p>
            <a:pPr indent="0" marL="0">
              <a:lnSpc>
                <a:spcPct val="115000"/>
              </a:lnSpc>
              <a:buNone/>
            </a:pPr>
            <a:r>
              <a:rPr lang="en-US" sz="1000" dirty="0">
                <a:solidFill>
                  <a:srgbClr val="FFFFFF"/>
                </a:solidFill>
                <a:latin typeface="Arial" pitchFamily="34" charset="0"/>
                <a:ea typeface="Arial" pitchFamily="34" charset="-122"/>
                <a:cs typeface="Arial" pitchFamily="34" charset="-120"/>
              </a:rPr>
              <a:t>• Bautista, Yeshua Cyrus
</a:t>
            </a:r>
            <a:pPr indent="0" marL="0">
              <a:lnSpc>
                <a:spcPct val="115000"/>
              </a:lnSpc>
              <a:buNone/>
            </a:pPr>
            <a:r>
              <a:rPr lang="en-US" sz="1000" dirty="0">
                <a:solidFill>
                  <a:srgbClr val="FFFFFF"/>
                </a:solidFill>
                <a:latin typeface="Arial" pitchFamily="34" charset="0"/>
                <a:ea typeface="Arial" pitchFamily="34" charset="-122"/>
                <a:cs typeface="Arial" pitchFamily="34" charset="-120"/>
              </a:rPr>
              <a:t>• Cancio, Kelvin Charles
</a:t>
            </a:r>
            <a:pPr indent="0" marL="0">
              <a:lnSpc>
                <a:spcPct val="115000"/>
              </a:lnSpc>
              <a:buNone/>
            </a:pPr>
            <a:r>
              <a:rPr lang="en-US" sz="1000" dirty="0">
                <a:solidFill>
                  <a:srgbClr val="FFFFFF"/>
                </a:solidFill>
                <a:latin typeface="Arial" pitchFamily="34" charset="0"/>
                <a:ea typeface="Arial" pitchFamily="34" charset="-122"/>
                <a:cs typeface="Arial" pitchFamily="34" charset="-120"/>
              </a:rPr>
              <a:t>• Casul, Angella Shaolla</a:t>
            </a:r>
            <a:endParaRPr lang="en-US" sz="1000" dirty="0"/>
          </a:p>
        </p:txBody>
      </p:sp>
      <p:sp>
        <p:nvSpPr>
          <p:cNvPr id="10" name="Text 8"/>
          <p:cNvSpPr/>
          <p:nvPr/>
        </p:nvSpPr>
        <p:spPr>
          <a:xfrm>
            <a:off x="4754880" y="3749040"/>
            <a:ext cx="3474720" cy="777240"/>
          </a:xfrm>
          <a:prstGeom prst="rect">
            <a:avLst/>
          </a:prstGeom>
          <a:noFill/>
          <a:ln/>
        </p:spPr>
        <p:txBody>
          <a:bodyPr wrap="square" lIns="0" tIns="0" rIns="0" bIns="0" rtlCol="0" anchor="ctr"/>
          <a:lstStyle/>
          <a:p>
            <a:pPr indent="0" marL="0">
              <a:lnSpc>
                <a:spcPct val="115000"/>
              </a:lnSpc>
              <a:buNone/>
            </a:pPr>
            <a:r>
              <a:rPr lang="en-US" sz="1000" dirty="0">
                <a:solidFill>
                  <a:srgbClr val="FFFFFF"/>
                </a:solidFill>
                <a:latin typeface="Arial" pitchFamily="34" charset="0"/>
                <a:ea typeface="Arial" pitchFamily="34" charset="-122"/>
                <a:cs typeface="Arial" pitchFamily="34" charset="-120"/>
              </a:rPr>
              <a:t>• Estay, John Christian
</a:t>
            </a:r>
            <a:pPr indent="0" marL="0">
              <a:lnSpc>
                <a:spcPct val="115000"/>
              </a:lnSpc>
              <a:buNone/>
            </a:pPr>
            <a:r>
              <a:rPr lang="en-US" sz="1000" dirty="0">
                <a:solidFill>
                  <a:srgbClr val="FFFFFF"/>
                </a:solidFill>
                <a:latin typeface="Arial" pitchFamily="34" charset="0"/>
                <a:ea typeface="Arial" pitchFamily="34" charset="-122"/>
                <a:cs typeface="Arial" pitchFamily="34" charset="-120"/>
              </a:rPr>
              <a:t>• Roldan, Mickey John
</a:t>
            </a:r>
            <a:pPr indent="0" marL="0">
              <a:lnSpc>
                <a:spcPct val="115000"/>
              </a:lnSpc>
              <a:buNone/>
            </a:pPr>
            <a:r>
              <a:rPr lang="en-US" sz="1000" b="1" dirty="0">
                <a:solidFill>
                  <a:srgbClr val="C89D2B"/>
                </a:solidFill>
                <a:latin typeface="Arial" pitchFamily="34" charset="0"/>
                <a:ea typeface="Arial" pitchFamily="34" charset="-122"/>
                <a:cs typeface="Arial" pitchFamily="34" charset="-120"/>
              </a:rPr>
              <a:t>BSIT • 1st Sem, A.Y. 2026–2027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A1315"/>
          </a:solidFill>
          <a:ln w="12700">
            <a:solidFill>
              <a:srgbClr val="7A1315"/>
            </a:solidFill>
            <a:prstDash val="solid"/>
          </a:ln>
        </p:spPr>
      </p:sp>
      <p:sp>
        <p:nvSpPr>
          <p:cNvPr id="3" name="Text 1"/>
          <p:cNvSpPr/>
          <p:nvPr/>
        </p:nvSpPr>
        <p:spPr>
          <a:xfrm>
            <a:off x="731520" y="256032"/>
            <a:ext cx="7680960" cy="228600"/>
          </a:xfrm>
          <a:prstGeom prst="rect">
            <a:avLst/>
          </a:prstGeom>
          <a:noFill/>
          <a:ln/>
        </p:spPr>
        <p:txBody>
          <a:bodyPr wrap="square" lIns="0" tIns="0" rIns="0" bIns="0" rtlCol="0" anchor="ctr"/>
          <a:lstStyle/>
          <a:p>
            <a:pPr indent="0" marL="0">
              <a:buNone/>
            </a:pPr>
            <a:r>
              <a:rPr lang="en-US" sz="900" b="1" dirty="0">
                <a:solidFill>
                  <a:srgbClr val="C89D2B"/>
                </a:solidFill>
                <a:latin typeface="Arial" pitchFamily="34" charset="0"/>
                <a:ea typeface="Arial" pitchFamily="34" charset="-122"/>
                <a:cs typeface="Arial" pitchFamily="34" charset="-120"/>
              </a:rPr>
              <a:t>PROJECT BACKGROUND</a:t>
            </a:r>
            <a:endParaRPr lang="en-US" sz="900" dirty="0"/>
          </a:p>
        </p:txBody>
      </p:sp>
      <p:sp>
        <p:nvSpPr>
          <p:cNvPr id="4" name="Text 2"/>
          <p:cNvSpPr/>
          <p:nvPr/>
        </p:nvSpPr>
        <p:spPr>
          <a:xfrm>
            <a:off x="731520" y="475488"/>
            <a:ext cx="7680960" cy="457200"/>
          </a:xfrm>
          <a:prstGeom prst="rect">
            <a:avLst/>
          </a:prstGeom>
          <a:noFill/>
          <a:ln/>
        </p:spPr>
        <p:txBody>
          <a:bodyPr wrap="square" lIns="0" tIns="0" rIns="0" bIns="0" rtlCol="0" anchor="ctr"/>
          <a:lstStyle/>
          <a:p>
            <a:pPr indent="0" marL="0">
              <a:buNone/>
            </a:pPr>
            <a:r>
              <a:rPr lang="en-US" sz="2000" b="1" dirty="0">
                <a:solidFill>
                  <a:srgbClr val="7A1315"/>
                </a:solidFill>
                <a:latin typeface="Arial" pitchFamily="34" charset="0"/>
                <a:ea typeface="Arial" pitchFamily="34" charset="-122"/>
                <a:cs typeface="Arial" pitchFamily="34" charset="-120"/>
              </a:rPr>
              <a:t>System Overview &amp; Problem Statement</a:t>
            </a:r>
            <a:endParaRPr lang="en-US" sz="2000" dirty="0"/>
          </a:p>
        </p:txBody>
      </p:sp>
      <p:sp>
        <p:nvSpPr>
          <p:cNvPr id="5" name="Shape 3"/>
          <p:cNvSpPr/>
          <p:nvPr/>
        </p:nvSpPr>
        <p:spPr>
          <a:xfrm>
            <a:off x="731520" y="960120"/>
            <a:ext cx="7680960" cy="13716"/>
          </a:xfrm>
          <a:prstGeom prst="rect">
            <a:avLst/>
          </a:prstGeom>
          <a:solidFill>
            <a:srgbClr val="E2E8F0"/>
          </a:solidFill>
          <a:ln w="12700">
            <a:solidFill>
              <a:srgbClr val="E2E8F0"/>
            </a:solidFill>
            <a:prstDash val="solid"/>
          </a:ln>
        </p:spPr>
      </p:sp>
      <p:sp>
        <p:nvSpPr>
          <p:cNvPr id="6" name="Text 4"/>
          <p:cNvSpPr/>
          <p:nvPr/>
        </p:nvSpPr>
        <p:spPr>
          <a:xfrm>
            <a:off x="731520" y="4800600"/>
            <a:ext cx="640080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University of Perpetual Help System DALTA – Molino Campus  |  Group 1</a:t>
            </a:r>
            <a:endParaRPr lang="en-US" sz="850" dirty="0"/>
          </a:p>
        </p:txBody>
      </p:sp>
      <p:sp>
        <p:nvSpPr>
          <p:cNvPr id="7" name="Text 5"/>
          <p:cNvSpPr/>
          <p:nvPr/>
        </p:nvSpPr>
        <p:spPr>
          <a:xfrm>
            <a:off x="7498080" y="4800600"/>
            <a:ext cx="914400" cy="228600"/>
          </a:xfrm>
          <a:prstGeom prst="rect">
            <a:avLst/>
          </a:prstGeom>
          <a:noFill/>
          <a:ln/>
        </p:spPr>
        <p:txBody>
          <a:bodyPr wrap="square" lIns="0" tIns="0" rIns="0" bIns="0"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2</a:t>
            </a:r>
            <a:endParaRPr lang="en-US" sz="850" dirty="0"/>
          </a:p>
        </p:txBody>
      </p:sp>
      <p:sp>
        <p:nvSpPr>
          <p:cNvPr id="8" name="Shape 6"/>
          <p:cNvSpPr/>
          <p:nvPr/>
        </p:nvSpPr>
        <p:spPr>
          <a:xfrm>
            <a:off x="731520" y="1143000"/>
            <a:ext cx="3703320" cy="3429000"/>
          </a:xfrm>
          <a:prstGeom prst="rect">
            <a:avLst/>
          </a:prstGeom>
          <a:solidFill>
            <a:srgbClr val="FFFFFF"/>
          </a:solidFill>
          <a:ln w="12700">
            <a:solidFill>
              <a:srgbClr val="E2E8F0"/>
            </a:solidFill>
            <a:prstDash val="solid"/>
          </a:ln>
        </p:spPr>
      </p:sp>
      <p:sp>
        <p:nvSpPr>
          <p:cNvPr id="9" name="Shape 7"/>
          <p:cNvSpPr/>
          <p:nvPr/>
        </p:nvSpPr>
        <p:spPr>
          <a:xfrm>
            <a:off x="731520" y="1143000"/>
            <a:ext cx="3703320" cy="73152"/>
          </a:xfrm>
          <a:prstGeom prst="rect">
            <a:avLst/>
          </a:prstGeom>
          <a:solidFill>
            <a:srgbClr val="DC2626"/>
          </a:solidFill>
          <a:ln w="12700">
            <a:solidFill>
              <a:srgbClr val="DC2626"/>
            </a:solidFill>
            <a:prstDash val="solid"/>
          </a:ln>
        </p:spPr>
      </p:sp>
      <p:sp>
        <p:nvSpPr>
          <p:cNvPr id="10" name="Text 8"/>
          <p:cNvSpPr/>
          <p:nvPr/>
        </p:nvSpPr>
        <p:spPr>
          <a:xfrm>
            <a:off x="1005840" y="1371600"/>
            <a:ext cx="3200400" cy="274320"/>
          </a:xfrm>
          <a:prstGeom prst="rect">
            <a:avLst/>
          </a:prstGeom>
          <a:noFill/>
          <a:ln/>
        </p:spPr>
        <p:txBody>
          <a:bodyPr wrap="square" lIns="0" tIns="0" rIns="0" bIns="0" rtlCol="0" anchor="ctr"/>
          <a:lstStyle/>
          <a:p>
            <a:pPr indent="0" marL="0">
              <a:buNone/>
            </a:pPr>
            <a:r>
              <a:rPr lang="en-US" sz="1200" b="1" dirty="0">
                <a:solidFill>
                  <a:srgbClr val="DC2626"/>
                </a:solidFill>
                <a:latin typeface="Arial" pitchFamily="34" charset="0"/>
                <a:ea typeface="Arial" pitchFamily="34" charset="-122"/>
                <a:cs typeface="Arial" pitchFamily="34" charset="-120"/>
              </a:rPr>
              <a:t>THE PROBLEM (Current Bottlenecks)</a:t>
            </a:r>
            <a:endParaRPr lang="en-US" sz="1200" dirty="0"/>
          </a:p>
        </p:txBody>
      </p:sp>
      <p:sp>
        <p:nvSpPr>
          <p:cNvPr id="11" name="Text 9"/>
          <p:cNvSpPr/>
          <p:nvPr/>
        </p:nvSpPr>
        <p:spPr>
          <a:xfrm>
            <a:off x="100584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Fragmented Platforms
</a:t>
            </a:r>
            <a:pPr indent="0" marL="0">
              <a:buNone/>
            </a:pPr>
            <a:r>
              <a:rPr lang="en-US" sz="950" dirty="0">
                <a:solidFill>
                  <a:srgbClr val="334155"/>
                </a:solidFill>
                <a:latin typeface="Arial" pitchFamily="34" charset="0"/>
                <a:ea typeface="Arial" pitchFamily="34" charset="-122"/>
                <a:cs typeface="Arial" pitchFamily="34" charset="-120"/>
              </a:rPr>
              <a:t>Students must check separate systems for grades, class schedules, and billing ledgers.
</a:t>
            </a:r>
            <a:pPr indent="0" marL="0">
              <a:buNone/>
            </a:pPr>
            <a:r>
              <a:rPr lang="en-US" sz="950" b="1" dirty="0">
                <a:solidFill>
                  <a:srgbClr val="0F172A"/>
                </a:solidFill>
                <a:latin typeface="Arial" pitchFamily="34" charset="0"/>
                <a:ea typeface="Arial" pitchFamily="34" charset="-122"/>
                <a:cs typeface="Arial" pitchFamily="34" charset="-120"/>
              </a:rPr>
              <a:t>Manual Cashier Queues
</a:t>
            </a:r>
            <a:pPr indent="0" marL="0">
              <a:buNone/>
            </a:pPr>
            <a:r>
              <a:rPr lang="en-US" sz="950" dirty="0">
                <a:solidFill>
                  <a:srgbClr val="334155"/>
                </a:solidFill>
                <a:latin typeface="Arial" pitchFamily="34" charset="0"/>
                <a:ea typeface="Arial" pitchFamily="34" charset="-122"/>
                <a:cs typeface="Arial" pitchFamily="34" charset="-120"/>
              </a:rPr>
              <a:t>Paying tuition and lab fees requires students to carry physical cash and line up for hours.
</a:t>
            </a:r>
            <a:pPr indent="0" marL="0">
              <a:buNone/>
            </a:pPr>
            <a:r>
              <a:rPr lang="en-US" sz="950" b="1" dirty="0">
                <a:solidFill>
                  <a:srgbClr val="0F172A"/>
                </a:solidFill>
                <a:latin typeface="Arial" pitchFamily="34" charset="0"/>
                <a:ea typeface="Arial" pitchFamily="34" charset="-122"/>
                <a:cs typeface="Arial" pitchFamily="34" charset="-120"/>
              </a:rPr>
              <a:t>Paper-Based Clearances
</a:t>
            </a:r>
            <a:pPr indent="0" marL="0">
              <a:buNone/>
            </a:pPr>
            <a:r>
              <a:rPr lang="en-US" sz="950" dirty="0">
                <a:solidFill>
                  <a:srgbClr val="334155"/>
                </a:solidFill>
                <a:latin typeface="Arial" pitchFamily="34" charset="0"/>
                <a:ea typeface="Arial" pitchFamily="34" charset="-122"/>
                <a:cs typeface="Arial" pitchFamily="34" charset="-120"/>
              </a:rPr>
              <a:t>Exam eligibility depends on physical receipt verification and manual stamp approvals.</a:t>
            </a:r>
            <a:endParaRPr lang="en-US" sz="950" dirty="0"/>
          </a:p>
        </p:txBody>
      </p:sp>
      <p:sp>
        <p:nvSpPr>
          <p:cNvPr id="12" name="Shape 10"/>
          <p:cNvSpPr/>
          <p:nvPr/>
        </p:nvSpPr>
        <p:spPr>
          <a:xfrm>
            <a:off x="4709160" y="1143000"/>
            <a:ext cx="3703320" cy="3429000"/>
          </a:xfrm>
          <a:prstGeom prst="rect">
            <a:avLst/>
          </a:prstGeom>
          <a:solidFill>
            <a:srgbClr val="FFFFFF"/>
          </a:solidFill>
          <a:ln w="12700">
            <a:solidFill>
              <a:srgbClr val="E2E8F0"/>
            </a:solidFill>
            <a:prstDash val="solid"/>
          </a:ln>
        </p:spPr>
      </p:sp>
      <p:sp>
        <p:nvSpPr>
          <p:cNvPr id="13" name="Shape 11"/>
          <p:cNvSpPr/>
          <p:nvPr/>
        </p:nvSpPr>
        <p:spPr>
          <a:xfrm>
            <a:off x="4709160" y="1143000"/>
            <a:ext cx="3703320" cy="73152"/>
          </a:xfrm>
          <a:prstGeom prst="rect">
            <a:avLst/>
          </a:prstGeom>
          <a:solidFill>
            <a:srgbClr val="059669"/>
          </a:solidFill>
          <a:ln w="12700">
            <a:solidFill>
              <a:srgbClr val="059669"/>
            </a:solidFill>
            <a:prstDash val="solid"/>
          </a:ln>
        </p:spPr>
      </p:sp>
      <p:sp>
        <p:nvSpPr>
          <p:cNvPr id="14" name="Text 12"/>
          <p:cNvSpPr/>
          <p:nvPr/>
        </p:nvSpPr>
        <p:spPr>
          <a:xfrm>
            <a:off x="4983480" y="1371600"/>
            <a:ext cx="3200400" cy="274320"/>
          </a:xfrm>
          <a:prstGeom prst="rect">
            <a:avLst/>
          </a:prstGeom>
          <a:noFill/>
          <a:ln/>
        </p:spPr>
        <p:txBody>
          <a:bodyPr wrap="square" lIns="0" tIns="0" rIns="0" bIns="0" rtlCol="0" anchor="ctr"/>
          <a:lstStyle/>
          <a:p>
            <a:pPr indent="0" marL="0">
              <a:buNone/>
            </a:pPr>
            <a:r>
              <a:rPr lang="en-US" sz="1200" b="1" dirty="0">
                <a:solidFill>
                  <a:srgbClr val="059669"/>
                </a:solidFill>
                <a:latin typeface="Arial" pitchFamily="34" charset="0"/>
                <a:ea typeface="Arial" pitchFamily="34" charset="-122"/>
                <a:cs typeface="Arial" pitchFamily="34" charset="-120"/>
              </a:rPr>
              <a:t>OUR SOLUTION (Unified Portal)</a:t>
            </a:r>
            <a:endParaRPr lang="en-US" sz="1200" dirty="0"/>
          </a:p>
        </p:txBody>
      </p:sp>
      <p:sp>
        <p:nvSpPr>
          <p:cNvPr id="15" name="Text 13"/>
          <p:cNvSpPr/>
          <p:nvPr/>
        </p:nvSpPr>
        <p:spPr>
          <a:xfrm>
            <a:off x="498348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Centralized Student Command
</a:t>
            </a:r>
            <a:pPr indent="0" marL="0">
              <a:buNone/>
            </a:pPr>
            <a:r>
              <a:rPr lang="en-US" sz="950" dirty="0">
                <a:solidFill>
                  <a:srgbClr val="334155"/>
                </a:solidFill>
                <a:latin typeface="Arial" pitchFamily="34" charset="0"/>
                <a:ea typeface="Arial" pitchFamily="34" charset="-122"/>
                <a:cs typeface="Arial" pitchFamily="34" charset="-120"/>
              </a:rPr>
              <a:t>Consolidates daily schedules, GPA pacing, and enrolled subjects into one clean portal.
</a:t>
            </a:r>
            <a:pPr indent="0" marL="0">
              <a:buNone/>
            </a:pPr>
            <a:r>
              <a:rPr lang="en-US" sz="950" b="1" dirty="0">
                <a:solidFill>
                  <a:srgbClr val="0F172A"/>
                </a:solidFill>
                <a:latin typeface="Arial" pitchFamily="34" charset="0"/>
                <a:ea typeface="Arial" pitchFamily="34" charset="-122"/>
                <a:cs typeface="Arial" pitchFamily="34" charset="-120"/>
              </a:rPr>
              <a:t>Perpetual Card &amp; Cloud Cash-In
</a:t>
            </a:r>
            <a:pPr indent="0" marL="0">
              <a:buNone/>
            </a:pPr>
            <a:r>
              <a:rPr lang="en-US" sz="950" dirty="0">
                <a:solidFill>
                  <a:srgbClr val="334155"/>
                </a:solidFill>
                <a:latin typeface="Arial" pitchFamily="34" charset="0"/>
                <a:ea typeface="Arial" pitchFamily="34" charset="-122"/>
                <a:cs typeface="Arial" pitchFamily="34" charset="-120"/>
              </a:rPr>
              <a:t>Students can top up 24/7 from home via GCash, Maya, Bank Transfer, or 7-Eleven.
</a:t>
            </a:r>
            <a:pPr indent="0" marL="0">
              <a:buNone/>
            </a:pPr>
            <a:r>
              <a:rPr lang="en-US" sz="950" b="1" dirty="0">
                <a:solidFill>
                  <a:srgbClr val="0F172A"/>
                </a:solidFill>
                <a:latin typeface="Arial" pitchFamily="34" charset="0"/>
                <a:ea typeface="Arial" pitchFamily="34" charset="-122"/>
                <a:cs typeface="Arial" pitchFamily="34" charset="-120"/>
              </a:rPr>
              <a:t>Electronic Official Receipts
</a:t>
            </a:r>
            <a:pPr indent="0" marL="0">
              <a:buNone/>
            </a:pPr>
            <a:r>
              <a:rPr lang="en-US" sz="950" dirty="0">
                <a:solidFill>
                  <a:srgbClr val="334155"/>
                </a:solidFill>
                <a:latin typeface="Arial" pitchFamily="34" charset="0"/>
                <a:ea typeface="Arial" pitchFamily="34" charset="-122"/>
                <a:cs typeface="Arial" pitchFamily="34" charset="-120"/>
              </a:rPr>
              <a:t>Instant audit-validated soft-copy receipts (OR) and immediate exam permit clearance.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A1315"/>
          </a:solidFill>
          <a:ln w="12700">
            <a:solidFill>
              <a:srgbClr val="7A1315"/>
            </a:solidFill>
            <a:prstDash val="solid"/>
          </a:ln>
        </p:spPr>
      </p:sp>
      <p:sp>
        <p:nvSpPr>
          <p:cNvPr id="3" name="Text 1"/>
          <p:cNvSpPr/>
          <p:nvPr/>
        </p:nvSpPr>
        <p:spPr>
          <a:xfrm>
            <a:off x="731520" y="256032"/>
            <a:ext cx="7680960" cy="228600"/>
          </a:xfrm>
          <a:prstGeom prst="rect">
            <a:avLst/>
          </a:prstGeom>
          <a:noFill/>
          <a:ln/>
        </p:spPr>
        <p:txBody>
          <a:bodyPr wrap="square" lIns="0" tIns="0" rIns="0" bIns="0" rtlCol="0" anchor="ctr"/>
          <a:lstStyle/>
          <a:p>
            <a:pPr indent="0" marL="0">
              <a:buNone/>
            </a:pPr>
            <a:r>
              <a:rPr lang="en-US" sz="900" b="1" dirty="0">
                <a:solidFill>
                  <a:srgbClr val="C89D2B"/>
                </a:solidFill>
                <a:latin typeface="Arial" pitchFamily="34" charset="0"/>
                <a:ea typeface="Arial" pitchFamily="34" charset="-122"/>
                <a:cs typeface="Arial" pitchFamily="34" charset="-120"/>
              </a:rPr>
              <a:t>PRESENTER: CANCIO, KELVIN CHARLES</a:t>
            </a:r>
            <a:endParaRPr lang="en-US" sz="900" dirty="0"/>
          </a:p>
        </p:txBody>
      </p:sp>
      <p:sp>
        <p:nvSpPr>
          <p:cNvPr id="4" name="Text 2"/>
          <p:cNvSpPr/>
          <p:nvPr/>
        </p:nvSpPr>
        <p:spPr>
          <a:xfrm>
            <a:off x="731520" y="475488"/>
            <a:ext cx="7680960" cy="457200"/>
          </a:xfrm>
          <a:prstGeom prst="rect">
            <a:avLst/>
          </a:prstGeom>
          <a:noFill/>
          <a:ln/>
        </p:spPr>
        <p:txBody>
          <a:bodyPr wrap="square" lIns="0" tIns="0" rIns="0" bIns="0" rtlCol="0" anchor="ctr"/>
          <a:lstStyle/>
          <a:p>
            <a:pPr indent="0" marL="0">
              <a:buNone/>
            </a:pPr>
            <a:r>
              <a:rPr lang="en-US" sz="2000" b="1" dirty="0">
                <a:solidFill>
                  <a:srgbClr val="7A1315"/>
                </a:solidFill>
                <a:latin typeface="Arial" pitchFamily="34" charset="0"/>
                <a:ea typeface="Arial" pitchFamily="34" charset="-122"/>
                <a:cs typeface="Arial" pitchFamily="34" charset="-120"/>
              </a:rPr>
              <a:t>Module 1: Student Login &amp; Navigation</a:t>
            </a:r>
            <a:endParaRPr lang="en-US" sz="2000" dirty="0"/>
          </a:p>
        </p:txBody>
      </p:sp>
      <p:sp>
        <p:nvSpPr>
          <p:cNvPr id="5" name="Shape 3"/>
          <p:cNvSpPr/>
          <p:nvPr/>
        </p:nvSpPr>
        <p:spPr>
          <a:xfrm>
            <a:off x="731520" y="960120"/>
            <a:ext cx="7680960" cy="13716"/>
          </a:xfrm>
          <a:prstGeom prst="rect">
            <a:avLst/>
          </a:prstGeom>
          <a:solidFill>
            <a:srgbClr val="E2E8F0"/>
          </a:solidFill>
          <a:ln w="12700">
            <a:solidFill>
              <a:srgbClr val="E2E8F0"/>
            </a:solidFill>
            <a:prstDash val="solid"/>
          </a:ln>
        </p:spPr>
      </p:sp>
      <p:sp>
        <p:nvSpPr>
          <p:cNvPr id="6" name="Text 4"/>
          <p:cNvSpPr/>
          <p:nvPr/>
        </p:nvSpPr>
        <p:spPr>
          <a:xfrm>
            <a:off x="731520" y="4800600"/>
            <a:ext cx="640080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University of Perpetual Help System DALTA – Molino Campus  |  Group 1</a:t>
            </a:r>
            <a:endParaRPr lang="en-US" sz="850" dirty="0"/>
          </a:p>
        </p:txBody>
      </p:sp>
      <p:sp>
        <p:nvSpPr>
          <p:cNvPr id="7" name="Text 5"/>
          <p:cNvSpPr/>
          <p:nvPr/>
        </p:nvSpPr>
        <p:spPr>
          <a:xfrm>
            <a:off x="7498080" y="4800600"/>
            <a:ext cx="914400" cy="228600"/>
          </a:xfrm>
          <a:prstGeom prst="rect">
            <a:avLst/>
          </a:prstGeom>
          <a:noFill/>
          <a:ln/>
        </p:spPr>
        <p:txBody>
          <a:bodyPr wrap="square" lIns="0" tIns="0" rIns="0" bIns="0"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3</a:t>
            </a:r>
            <a:endParaRPr lang="en-US" sz="850" dirty="0"/>
          </a:p>
        </p:txBody>
      </p:sp>
      <p:sp>
        <p:nvSpPr>
          <p:cNvPr id="8" name="Shape 6"/>
          <p:cNvSpPr/>
          <p:nvPr/>
        </p:nvSpPr>
        <p:spPr>
          <a:xfrm>
            <a:off x="731520" y="1143000"/>
            <a:ext cx="3703320" cy="3429000"/>
          </a:xfrm>
          <a:prstGeom prst="rect">
            <a:avLst/>
          </a:prstGeom>
          <a:solidFill>
            <a:srgbClr val="FFFFFF"/>
          </a:solidFill>
          <a:ln w="12700">
            <a:solidFill>
              <a:srgbClr val="E2E8F0"/>
            </a:solidFill>
            <a:prstDash val="solid"/>
          </a:ln>
        </p:spPr>
      </p:sp>
      <p:sp>
        <p:nvSpPr>
          <p:cNvPr id="9" name="Text 7"/>
          <p:cNvSpPr/>
          <p:nvPr/>
        </p:nvSpPr>
        <p:spPr>
          <a:xfrm>
            <a:off x="100584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INTERFACE &amp; DESIGN</a:t>
            </a:r>
            <a:endParaRPr lang="en-US" sz="1200" dirty="0"/>
          </a:p>
        </p:txBody>
      </p:sp>
      <p:sp>
        <p:nvSpPr>
          <p:cNvPr id="10" name="Text 8"/>
          <p:cNvSpPr/>
          <p:nvPr/>
        </p:nvSpPr>
        <p:spPr>
          <a:xfrm>
            <a:off x="100584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Official Molino Branding
</a:t>
            </a:r>
            <a:pPr indent="0" marL="0">
              <a:buNone/>
            </a:pPr>
            <a:r>
              <a:rPr lang="en-US" sz="950" dirty="0">
                <a:solidFill>
                  <a:srgbClr val="334155"/>
                </a:solidFill>
                <a:latin typeface="Arial" pitchFamily="34" charset="0"/>
                <a:ea typeface="Arial" pitchFamily="34" charset="-122"/>
                <a:cs typeface="Arial" pitchFamily="34" charset="-120"/>
              </a:rPr>
              <a:t>   Features university crest, Molino Campus title, and motto "Character Building is Nation Building".
</a:t>
            </a:r>
            <a:pPr indent="0" marL="0">
              <a:buNone/>
            </a:pPr>
            <a:r>
              <a:rPr lang="en-US" sz="950" b="1" dirty="0">
                <a:solidFill>
                  <a:srgbClr val="0F172A"/>
                </a:solidFill>
                <a:latin typeface="Arial" pitchFamily="34" charset="0"/>
                <a:ea typeface="Arial" pitchFamily="34" charset="-122"/>
                <a:cs typeface="Arial" pitchFamily="34" charset="-120"/>
              </a:rPr>
              <a:t>• Minimalist Academic Layout
</a:t>
            </a:r>
            <a:pPr indent="0" marL="0">
              <a:buNone/>
            </a:pPr>
            <a:r>
              <a:rPr lang="en-US" sz="950" dirty="0">
                <a:solidFill>
                  <a:srgbClr val="334155"/>
                </a:solidFill>
                <a:latin typeface="Arial" pitchFamily="34" charset="0"/>
                <a:ea typeface="Arial" pitchFamily="34" charset="-122"/>
                <a:cs typeface="Arial" pitchFamily="34" charset="-120"/>
              </a:rPr>
              <a:t>   A clean 2-column aesthetic: university identity on the left and secure form on the right.
</a:t>
            </a:r>
            <a:pPr indent="0" marL="0">
              <a:buNone/>
            </a:pPr>
            <a:r>
              <a:rPr lang="en-US" sz="950" b="1" dirty="0">
                <a:solidFill>
                  <a:srgbClr val="0F172A"/>
                </a:solidFill>
                <a:latin typeface="Arial" pitchFamily="34" charset="0"/>
                <a:ea typeface="Arial" pitchFamily="34" charset="-122"/>
                <a:cs typeface="Arial" pitchFamily="34" charset="-120"/>
              </a:rPr>
              <a:t>• Responsive &amp; Accessible
</a:t>
            </a:r>
            <a:pPr indent="0" marL="0">
              <a:buNone/>
            </a:pPr>
            <a:r>
              <a:rPr lang="en-US" sz="950" dirty="0">
                <a:solidFill>
                  <a:srgbClr val="334155"/>
                </a:solidFill>
                <a:latin typeface="Arial" pitchFamily="34" charset="0"/>
                <a:ea typeface="Arial" pitchFamily="34" charset="-122"/>
                <a:cs typeface="Arial" pitchFamily="34" charset="-120"/>
              </a:rPr>
              <a:t>   Built with clean vanilla HTML5/CSS3 for fast loading on any laptop, tablet, or phone.</a:t>
            </a:r>
            <a:endParaRPr lang="en-US" sz="950" dirty="0"/>
          </a:p>
        </p:txBody>
      </p:sp>
      <p:sp>
        <p:nvSpPr>
          <p:cNvPr id="11" name="Shape 9"/>
          <p:cNvSpPr/>
          <p:nvPr/>
        </p:nvSpPr>
        <p:spPr>
          <a:xfrm>
            <a:off x="4709160" y="1143000"/>
            <a:ext cx="3703320" cy="3429000"/>
          </a:xfrm>
          <a:prstGeom prst="rect">
            <a:avLst/>
          </a:prstGeom>
          <a:solidFill>
            <a:srgbClr val="FFFFFF"/>
          </a:solidFill>
          <a:ln w="12700">
            <a:solidFill>
              <a:srgbClr val="E2E8F0"/>
            </a:solidFill>
            <a:prstDash val="solid"/>
          </a:ln>
        </p:spPr>
      </p:sp>
      <p:sp>
        <p:nvSpPr>
          <p:cNvPr id="12" name="Text 10"/>
          <p:cNvSpPr/>
          <p:nvPr/>
        </p:nvSpPr>
        <p:spPr>
          <a:xfrm>
            <a:off x="498348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KEY FUNCTIONALITIES</a:t>
            </a:r>
            <a:endParaRPr lang="en-US" sz="1200" dirty="0"/>
          </a:p>
        </p:txBody>
      </p:sp>
      <p:sp>
        <p:nvSpPr>
          <p:cNvPr id="13" name="Text 11"/>
          <p:cNvSpPr/>
          <p:nvPr/>
        </p:nvSpPr>
        <p:spPr>
          <a:xfrm>
            <a:off x="498348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Single-Sign-On Entry
</a:t>
            </a:r>
            <a:pPr indent="0" marL="0">
              <a:buNone/>
            </a:pPr>
            <a:r>
              <a:rPr lang="en-US" sz="950" dirty="0">
                <a:solidFill>
                  <a:srgbClr val="334155"/>
                </a:solidFill>
                <a:latin typeface="Arial" pitchFamily="34" charset="0"/>
                <a:ea typeface="Arial" pitchFamily="34" charset="-122"/>
                <a:cs typeface="Arial" pitchFamily="34" charset="-120"/>
              </a:rPr>
              <a:t>   Authenticated student access via official Student ID and encrypted password.
</a:t>
            </a:r>
            <a:pPr indent="0" marL="0">
              <a:buNone/>
            </a:pPr>
            <a:r>
              <a:rPr lang="en-US" sz="950" b="1" dirty="0">
                <a:solidFill>
                  <a:srgbClr val="0F172A"/>
                </a:solidFill>
                <a:latin typeface="Arial" pitchFamily="34" charset="0"/>
                <a:ea typeface="Arial" pitchFamily="34" charset="-122"/>
                <a:cs typeface="Arial" pitchFamily="34" charset="-120"/>
              </a:rPr>
              <a:t>• Session State Management
</a:t>
            </a:r>
            <a:pPr indent="0" marL="0">
              <a:buNone/>
            </a:pPr>
            <a:r>
              <a:rPr lang="en-US" sz="950" dirty="0">
                <a:solidFill>
                  <a:srgbClr val="334155"/>
                </a:solidFill>
                <a:latin typeface="Arial" pitchFamily="34" charset="0"/>
                <a:ea typeface="Arial" pitchFamily="34" charset="-122"/>
                <a:cs typeface="Arial" pitchFamily="34" charset="-120"/>
              </a:rPr>
              <a:t>   Seamless login session persistence across all 4 portal sub-modules.
</a:t>
            </a:r>
            <a:pPr indent="0" marL="0">
              <a:buNone/>
            </a:pPr>
            <a:r>
              <a:rPr lang="en-US" sz="950" b="1" dirty="0">
                <a:solidFill>
                  <a:srgbClr val="0F172A"/>
                </a:solidFill>
                <a:latin typeface="Arial" pitchFamily="34" charset="0"/>
                <a:ea typeface="Arial" pitchFamily="34" charset="-122"/>
                <a:cs typeface="Arial" pitchFamily="34" charset="-120"/>
              </a:rPr>
              <a:t>• Direct System Routing
</a:t>
            </a:r>
            <a:pPr indent="0" marL="0">
              <a:buNone/>
            </a:pPr>
            <a:r>
              <a:rPr lang="en-US" sz="950" dirty="0">
                <a:solidFill>
                  <a:srgbClr val="334155"/>
                </a:solidFill>
                <a:latin typeface="Arial" pitchFamily="34" charset="0"/>
                <a:ea typeface="Arial" pitchFamily="34" charset="-122"/>
                <a:cs typeface="Arial" pitchFamily="34" charset="-120"/>
              </a:rPr>
              <a:t>   Validates credentials and immediately transfers the student to their personal dashboard.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A1315"/>
          </a:solidFill>
          <a:ln w="12700">
            <a:solidFill>
              <a:srgbClr val="7A1315"/>
            </a:solidFill>
            <a:prstDash val="solid"/>
          </a:ln>
        </p:spPr>
      </p:sp>
      <p:sp>
        <p:nvSpPr>
          <p:cNvPr id="3" name="Text 1"/>
          <p:cNvSpPr/>
          <p:nvPr/>
        </p:nvSpPr>
        <p:spPr>
          <a:xfrm>
            <a:off x="731520" y="256032"/>
            <a:ext cx="7680960" cy="228600"/>
          </a:xfrm>
          <a:prstGeom prst="rect">
            <a:avLst/>
          </a:prstGeom>
          <a:noFill/>
          <a:ln/>
        </p:spPr>
        <p:txBody>
          <a:bodyPr wrap="square" lIns="0" tIns="0" rIns="0" bIns="0" rtlCol="0" anchor="ctr"/>
          <a:lstStyle/>
          <a:p>
            <a:pPr indent="0" marL="0">
              <a:buNone/>
            </a:pPr>
            <a:r>
              <a:rPr lang="en-US" sz="900" b="1" dirty="0">
                <a:solidFill>
                  <a:srgbClr val="C89D2B"/>
                </a:solidFill>
                <a:latin typeface="Arial" pitchFamily="34" charset="0"/>
                <a:ea typeface="Arial" pitchFamily="34" charset="-122"/>
                <a:cs typeface="Arial" pitchFamily="34" charset="-120"/>
              </a:rPr>
              <a:t>PRESENTER: CASUL, ANGELLA SHAOLLA</a:t>
            </a:r>
            <a:endParaRPr lang="en-US" sz="900" dirty="0"/>
          </a:p>
        </p:txBody>
      </p:sp>
      <p:sp>
        <p:nvSpPr>
          <p:cNvPr id="4" name="Text 2"/>
          <p:cNvSpPr/>
          <p:nvPr/>
        </p:nvSpPr>
        <p:spPr>
          <a:xfrm>
            <a:off x="731520" y="475488"/>
            <a:ext cx="7680960" cy="457200"/>
          </a:xfrm>
          <a:prstGeom prst="rect">
            <a:avLst/>
          </a:prstGeom>
          <a:noFill/>
          <a:ln/>
        </p:spPr>
        <p:txBody>
          <a:bodyPr wrap="square" lIns="0" tIns="0" rIns="0" bIns="0" rtlCol="0" anchor="ctr"/>
          <a:lstStyle/>
          <a:p>
            <a:pPr indent="0" marL="0">
              <a:buNone/>
            </a:pPr>
            <a:r>
              <a:rPr lang="en-US" sz="2000" b="1" dirty="0">
                <a:solidFill>
                  <a:srgbClr val="7A1315"/>
                </a:solidFill>
                <a:latin typeface="Arial" pitchFamily="34" charset="0"/>
                <a:ea typeface="Arial" pitchFamily="34" charset="-122"/>
                <a:cs typeface="Arial" pitchFamily="34" charset="-120"/>
              </a:rPr>
              <a:t>Module 2: Centralized Student Dashboard</a:t>
            </a:r>
            <a:endParaRPr lang="en-US" sz="2000" dirty="0"/>
          </a:p>
        </p:txBody>
      </p:sp>
      <p:sp>
        <p:nvSpPr>
          <p:cNvPr id="5" name="Shape 3"/>
          <p:cNvSpPr/>
          <p:nvPr/>
        </p:nvSpPr>
        <p:spPr>
          <a:xfrm>
            <a:off x="731520" y="960120"/>
            <a:ext cx="7680960" cy="13716"/>
          </a:xfrm>
          <a:prstGeom prst="rect">
            <a:avLst/>
          </a:prstGeom>
          <a:solidFill>
            <a:srgbClr val="E2E8F0"/>
          </a:solidFill>
          <a:ln w="12700">
            <a:solidFill>
              <a:srgbClr val="E2E8F0"/>
            </a:solidFill>
            <a:prstDash val="solid"/>
          </a:ln>
        </p:spPr>
      </p:sp>
      <p:sp>
        <p:nvSpPr>
          <p:cNvPr id="6" name="Text 4"/>
          <p:cNvSpPr/>
          <p:nvPr/>
        </p:nvSpPr>
        <p:spPr>
          <a:xfrm>
            <a:off x="731520" y="4800600"/>
            <a:ext cx="640080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University of Perpetual Help System DALTA – Molino Campus  |  Group 1</a:t>
            </a:r>
            <a:endParaRPr lang="en-US" sz="850" dirty="0"/>
          </a:p>
        </p:txBody>
      </p:sp>
      <p:sp>
        <p:nvSpPr>
          <p:cNvPr id="7" name="Text 5"/>
          <p:cNvSpPr/>
          <p:nvPr/>
        </p:nvSpPr>
        <p:spPr>
          <a:xfrm>
            <a:off x="7498080" y="4800600"/>
            <a:ext cx="914400" cy="228600"/>
          </a:xfrm>
          <a:prstGeom prst="rect">
            <a:avLst/>
          </a:prstGeom>
          <a:noFill/>
          <a:ln/>
        </p:spPr>
        <p:txBody>
          <a:bodyPr wrap="square" lIns="0" tIns="0" rIns="0" bIns="0"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4</a:t>
            </a:r>
            <a:endParaRPr lang="en-US" sz="850" dirty="0"/>
          </a:p>
        </p:txBody>
      </p:sp>
      <p:sp>
        <p:nvSpPr>
          <p:cNvPr id="8" name="Shape 6"/>
          <p:cNvSpPr/>
          <p:nvPr/>
        </p:nvSpPr>
        <p:spPr>
          <a:xfrm>
            <a:off x="731520" y="1143000"/>
            <a:ext cx="3703320" cy="3429000"/>
          </a:xfrm>
          <a:prstGeom prst="rect">
            <a:avLst/>
          </a:prstGeom>
          <a:solidFill>
            <a:srgbClr val="FFFFFF"/>
          </a:solidFill>
          <a:ln w="12700">
            <a:solidFill>
              <a:srgbClr val="E2E8F0"/>
            </a:solidFill>
            <a:prstDash val="solid"/>
          </a:ln>
        </p:spPr>
      </p:sp>
      <p:sp>
        <p:nvSpPr>
          <p:cNvPr id="9" name="Text 7"/>
          <p:cNvSpPr/>
          <p:nvPr/>
        </p:nvSpPr>
        <p:spPr>
          <a:xfrm>
            <a:off x="100584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STUDENT COMMAND CENTER</a:t>
            </a:r>
            <a:endParaRPr lang="en-US" sz="1200" dirty="0"/>
          </a:p>
        </p:txBody>
      </p:sp>
      <p:sp>
        <p:nvSpPr>
          <p:cNvPr id="10" name="Text 8"/>
          <p:cNvSpPr/>
          <p:nvPr/>
        </p:nvSpPr>
        <p:spPr>
          <a:xfrm>
            <a:off x="100584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Unified Navigation Sidebar
</a:t>
            </a:r>
            <a:pPr indent="0" marL="0">
              <a:buNone/>
            </a:pPr>
            <a:r>
              <a:rPr lang="en-US" sz="950" dirty="0">
                <a:solidFill>
                  <a:srgbClr val="334155"/>
                </a:solidFill>
                <a:latin typeface="Arial" pitchFamily="34" charset="0"/>
                <a:ea typeface="Arial" pitchFamily="34" charset="-122"/>
                <a:cs typeface="Arial" pitchFamily="34" charset="-120"/>
              </a:rPr>
              <a:t>   Fixed left panel giving one-click access to Dashboard, Academics, Finance, and Settings.
</a:t>
            </a:r>
            <a:pPr indent="0" marL="0">
              <a:buNone/>
            </a:pPr>
            <a:r>
              <a:rPr lang="en-US" sz="950" b="1" dirty="0">
                <a:solidFill>
                  <a:srgbClr val="0F172A"/>
                </a:solidFill>
                <a:latin typeface="Arial" pitchFamily="34" charset="0"/>
                <a:ea typeface="Arial" pitchFamily="34" charset="-122"/>
                <a:cs typeface="Arial" pitchFamily="34" charset="-120"/>
              </a:rPr>
              <a:t>• Study Pacing &amp; Progress
</a:t>
            </a:r>
            <a:pPr indent="0" marL="0">
              <a:buNone/>
            </a:pPr>
            <a:r>
              <a:rPr lang="en-US" sz="950" dirty="0">
                <a:solidFill>
                  <a:srgbClr val="334155"/>
                </a:solidFill>
                <a:latin typeface="Arial" pitchFamily="34" charset="0"/>
                <a:ea typeface="Arial" pitchFamily="34" charset="-122"/>
                <a:cs typeface="Arial" pitchFamily="34" charset="-120"/>
              </a:rPr>
              <a:t>   Interactive "In the Zone" banner displaying term progress and GPA health summary.
</a:t>
            </a:r>
            <a:pPr indent="0" marL="0">
              <a:buNone/>
            </a:pPr>
            <a:r>
              <a:rPr lang="en-US" sz="950" b="1" dirty="0">
                <a:solidFill>
                  <a:srgbClr val="0F172A"/>
                </a:solidFill>
                <a:latin typeface="Arial" pitchFamily="34" charset="0"/>
                <a:ea typeface="Arial" pitchFamily="34" charset="-122"/>
                <a:cs typeface="Arial" pitchFamily="34" charset="-120"/>
              </a:rPr>
              <a:t>• AI Task Recommendations
</a:t>
            </a:r>
            <a:pPr indent="0" marL="0">
              <a:buNone/>
            </a:pPr>
            <a:r>
              <a:rPr lang="en-US" sz="950" dirty="0">
                <a:solidFill>
                  <a:srgbClr val="334155"/>
                </a:solidFill>
                <a:latin typeface="Arial" pitchFamily="34" charset="0"/>
                <a:ea typeface="Arial" pitchFamily="34" charset="-122"/>
                <a:cs typeface="Arial" pitchFamily="34" charset="-120"/>
              </a:rPr>
              <a:t>   Dynamic assistant suggestions highlighting urgent deliverables and study priorities.</a:t>
            </a:r>
            <a:endParaRPr lang="en-US" sz="950" dirty="0"/>
          </a:p>
        </p:txBody>
      </p:sp>
      <p:sp>
        <p:nvSpPr>
          <p:cNvPr id="11" name="Shape 9"/>
          <p:cNvSpPr/>
          <p:nvPr/>
        </p:nvSpPr>
        <p:spPr>
          <a:xfrm>
            <a:off x="4709160" y="1143000"/>
            <a:ext cx="3703320" cy="3429000"/>
          </a:xfrm>
          <a:prstGeom prst="rect">
            <a:avLst/>
          </a:prstGeom>
          <a:solidFill>
            <a:srgbClr val="FFFFFF"/>
          </a:solidFill>
          <a:ln w="12700">
            <a:solidFill>
              <a:srgbClr val="E2E8F0"/>
            </a:solidFill>
            <a:prstDash val="solid"/>
          </a:ln>
        </p:spPr>
      </p:sp>
      <p:sp>
        <p:nvSpPr>
          <p:cNvPr id="12" name="Text 10"/>
          <p:cNvSpPr/>
          <p:nvPr/>
        </p:nvSpPr>
        <p:spPr>
          <a:xfrm>
            <a:off x="498348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DAILY TIMELINE &amp; QUICK ACTIONS</a:t>
            </a:r>
            <a:endParaRPr lang="en-US" sz="1200" dirty="0"/>
          </a:p>
        </p:txBody>
      </p:sp>
      <p:sp>
        <p:nvSpPr>
          <p:cNvPr id="13" name="Text 11"/>
          <p:cNvSpPr/>
          <p:nvPr/>
        </p:nvSpPr>
        <p:spPr>
          <a:xfrm>
            <a:off x="498348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Today’s Class Timeline
</a:t>
            </a:r>
            <a:pPr indent="0" marL="0">
              <a:buNone/>
            </a:pPr>
            <a:r>
              <a:rPr lang="en-US" sz="950" dirty="0">
                <a:solidFill>
                  <a:srgbClr val="334155"/>
                </a:solidFill>
                <a:latin typeface="Arial" pitchFamily="34" charset="0"/>
                <a:ea typeface="Arial" pitchFamily="34" charset="-122"/>
                <a:cs typeface="Arial" pitchFamily="34" charset="-120"/>
              </a:rPr>
              <a:t>   Visual schedule showing real-time room assignments, subject codes, and start times.
</a:t>
            </a:r>
            <a:pPr indent="0" marL="0">
              <a:buNone/>
            </a:pPr>
            <a:r>
              <a:rPr lang="en-US" sz="950" b="1" dirty="0">
                <a:solidFill>
                  <a:srgbClr val="0F172A"/>
                </a:solidFill>
                <a:latin typeface="Arial" pitchFamily="34" charset="0"/>
                <a:ea typeface="Arial" pitchFamily="34" charset="-122"/>
                <a:cs typeface="Arial" pitchFamily="34" charset="-120"/>
              </a:rPr>
              <a:t>• Interactive Schedule Checklist
</a:t>
            </a:r>
            <a:pPr indent="0" marL="0">
              <a:buNone/>
            </a:pPr>
            <a:r>
              <a:rPr lang="en-US" sz="950" dirty="0">
                <a:solidFill>
                  <a:srgbClr val="334155"/>
                </a:solidFill>
                <a:latin typeface="Arial" pitchFamily="34" charset="0"/>
                <a:ea typeface="Arial" pitchFamily="34" charset="-122"/>
                <a:cs typeface="Arial" pitchFamily="34" charset="-120"/>
              </a:rPr>
              <a:t>   Students can check off attended classes throughout the day for personal pacing.
</a:t>
            </a:r>
            <a:pPr indent="0" marL="0">
              <a:buNone/>
            </a:pPr>
            <a:r>
              <a:rPr lang="en-US" sz="950" b="1" dirty="0">
                <a:solidFill>
                  <a:srgbClr val="0F172A"/>
                </a:solidFill>
                <a:latin typeface="Arial" pitchFamily="34" charset="0"/>
                <a:ea typeface="Arial" pitchFamily="34" charset="-122"/>
                <a:cs typeface="Arial" pitchFamily="34" charset="-120"/>
              </a:rPr>
              <a:t>• Quick Tuition Snapshot
</a:t>
            </a:r>
            <a:pPr indent="0" marL="0">
              <a:buNone/>
            </a:pPr>
            <a:r>
              <a:rPr lang="en-US" sz="950" dirty="0">
                <a:solidFill>
                  <a:srgbClr val="334155"/>
                </a:solidFill>
                <a:latin typeface="Arial" pitchFamily="34" charset="0"/>
                <a:ea typeface="Arial" pitchFamily="34" charset="-122"/>
                <a:cs typeface="Arial" pitchFamily="34" charset="-120"/>
              </a:rPr>
              <a:t>   At-a-glance outstanding balance card with direct link to the Statement of Account.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A1315"/>
          </a:solidFill>
          <a:ln w="12700">
            <a:solidFill>
              <a:srgbClr val="7A1315"/>
            </a:solidFill>
            <a:prstDash val="solid"/>
          </a:ln>
        </p:spPr>
      </p:sp>
      <p:sp>
        <p:nvSpPr>
          <p:cNvPr id="3" name="Text 1"/>
          <p:cNvSpPr/>
          <p:nvPr/>
        </p:nvSpPr>
        <p:spPr>
          <a:xfrm>
            <a:off x="731520" y="256032"/>
            <a:ext cx="7680960" cy="228600"/>
          </a:xfrm>
          <a:prstGeom prst="rect">
            <a:avLst/>
          </a:prstGeom>
          <a:noFill/>
          <a:ln/>
        </p:spPr>
        <p:txBody>
          <a:bodyPr wrap="square" lIns="0" tIns="0" rIns="0" bIns="0" rtlCol="0" anchor="ctr"/>
          <a:lstStyle/>
          <a:p>
            <a:pPr indent="0" marL="0">
              <a:buNone/>
            </a:pPr>
            <a:r>
              <a:rPr lang="en-US" sz="900" b="1" dirty="0">
                <a:solidFill>
                  <a:srgbClr val="C89D2B"/>
                </a:solidFill>
                <a:latin typeface="Arial" pitchFamily="34" charset="0"/>
                <a:ea typeface="Arial" pitchFamily="34" charset="-122"/>
                <a:cs typeface="Arial" pitchFamily="34" charset="-120"/>
              </a:rPr>
              <a:t>PRESENTER: ESTAY, JOHN CHRISTIAN</a:t>
            </a:r>
            <a:endParaRPr lang="en-US" sz="900" dirty="0"/>
          </a:p>
        </p:txBody>
      </p:sp>
      <p:sp>
        <p:nvSpPr>
          <p:cNvPr id="4" name="Text 2"/>
          <p:cNvSpPr/>
          <p:nvPr/>
        </p:nvSpPr>
        <p:spPr>
          <a:xfrm>
            <a:off x="731520" y="475488"/>
            <a:ext cx="7680960" cy="457200"/>
          </a:xfrm>
          <a:prstGeom prst="rect">
            <a:avLst/>
          </a:prstGeom>
          <a:noFill/>
          <a:ln/>
        </p:spPr>
        <p:txBody>
          <a:bodyPr wrap="square" lIns="0" tIns="0" rIns="0" bIns="0" rtlCol="0" anchor="ctr"/>
          <a:lstStyle/>
          <a:p>
            <a:pPr indent="0" marL="0">
              <a:buNone/>
            </a:pPr>
            <a:r>
              <a:rPr lang="en-US" sz="2000" b="1" dirty="0">
                <a:solidFill>
                  <a:srgbClr val="7A1315"/>
                </a:solidFill>
                <a:latin typeface="Arial" pitchFamily="34" charset="0"/>
                <a:ea typeface="Arial" pitchFamily="34" charset="-122"/>
                <a:cs typeface="Arial" pitchFamily="34" charset="-120"/>
              </a:rPr>
              <a:t>Module 3: Academics Hub &amp; Submission Vault</a:t>
            </a:r>
            <a:endParaRPr lang="en-US" sz="2000" dirty="0"/>
          </a:p>
        </p:txBody>
      </p:sp>
      <p:sp>
        <p:nvSpPr>
          <p:cNvPr id="5" name="Shape 3"/>
          <p:cNvSpPr/>
          <p:nvPr/>
        </p:nvSpPr>
        <p:spPr>
          <a:xfrm>
            <a:off x="731520" y="960120"/>
            <a:ext cx="7680960" cy="13716"/>
          </a:xfrm>
          <a:prstGeom prst="rect">
            <a:avLst/>
          </a:prstGeom>
          <a:solidFill>
            <a:srgbClr val="E2E8F0"/>
          </a:solidFill>
          <a:ln w="12700">
            <a:solidFill>
              <a:srgbClr val="E2E8F0"/>
            </a:solidFill>
            <a:prstDash val="solid"/>
          </a:ln>
        </p:spPr>
      </p:sp>
      <p:sp>
        <p:nvSpPr>
          <p:cNvPr id="6" name="Text 4"/>
          <p:cNvSpPr/>
          <p:nvPr/>
        </p:nvSpPr>
        <p:spPr>
          <a:xfrm>
            <a:off x="731520" y="4800600"/>
            <a:ext cx="640080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University of Perpetual Help System DALTA – Molino Campus  |  Group 1</a:t>
            </a:r>
            <a:endParaRPr lang="en-US" sz="850" dirty="0"/>
          </a:p>
        </p:txBody>
      </p:sp>
      <p:sp>
        <p:nvSpPr>
          <p:cNvPr id="7" name="Text 5"/>
          <p:cNvSpPr/>
          <p:nvPr/>
        </p:nvSpPr>
        <p:spPr>
          <a:xfrm>
            <a:off x="7498080" y="4800600"/>
            <a:ext cx="914400" cy="228600"/>
          </a:xfrm>
          <a:prstGeom prst="rect">
            <a:avLst/>
          </a:prstGeom>
          <a:noFill/>
          <a:ln/>
        </p:spPr>
        <p:txBody>
          <a:bodyPr wrap="square" lIns="0" tIns="0" rIns="0" bIns="0"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5</a:t>
            </a:r>
            <a:endParaRPr lang="en-US" sz="850" dirty="0"/>
          </a:p>
        </p:txBody>
      </p:sp>
      <p:sp>
        <p:nvSpPr>
          <p:cNvPr id="8" name="Shape 6"/>
          <p:cNvSpPr/>
          <p:nvPr/>
        </p:nvSpPr>
        <p:spPr>
          <a:xfrm>
            <a:off x="731520" y="1143000"/>
            <a:ext cx="3703320" cy="3429000"/>
          </a:xfrm>
          <a:prstGeom prst="rect">
            <a:avLst/>
          </a:prstGeom>
          <a:solidFill>
            <a:srgbClr val="FFFFFF"/>
          </a:solidFill>
          <a:ln w="12700">
            <a:solidFill>
              <a:srgbClr val="E2E8F0"/>
            </a:solidFill>
            <a:prstDash val="solid"/>
          </a:ln>
        </p:spPr>
      </p:sp>
      <p:sp>
        <p:nvSpPr>
          <p:cNvPr id="9" name="Text 7"/>
          <p:cNvSpPr/>
          <p:nvPr/>
        </p:nvSpPr>
        <p:spPr>
          <a:xfrm>
            <a:off x="100584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ACADEMIC VAULT &amp; SUBJECTS</a:t>
            </a:r>
            <a:endParaRPr lang="en-US" sz="1200" dirty="0"/>
          </a:p>
        </p:txBody>
      </p:sp>
      <p:sp>
        <p:nvSpPr>
          <p:cNvPr id="10" name="Text 8"/>
          <p:cNvSpPr/>
          <p:nvPr/>
        </p:nvSpPr>
        <p:spPr>
          <a:xfrm>
            <a:off x="100584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Student Academic Profile
</a:t>
            </a:r>
            <a:pPr indent="0" marL="0">
              <a:buNone/>
            </a:pPr>
            <a:r>
              <a:rPr lang="en-US" sz="950" dirty="0">
                <a:solidFill>
                  <a:srgbClr val="334155"/>
                </a:solidFill>
                <a:latin typeface="Arial" pitchFamily="34" charset="0"/>
                <a:ea typeface="Arial" pitchFamily="34" charset="-122"/>
                <a:cs typeface="Arial" pitchFamily="34" charset="-120"/>
              </a:rPr>
              <a:t>   Displays Student ID, degree (BSIT), academic standing, completed credits, and cumulative GPA.
</a:t>
            </a:r>
            <a:pPr indent="0" marL="0">
              <a:buNone/>
            </a:pPr>
            <a:r>
              <a:rPr lang="en-US" sz="950" b="1" dirty="0">
                <a:solidFill>
                  <a:srgbClr val="0F172A"/>
                </a:solidFill>
                <a:latin typeface="Arial" pitchFamily="34" charset="0"/>
                <a:ea typeface="Arial" pitchFamily="34" charset="-122"/>
                <a:cs typeface="Arial" pitchFamily="34" charset="-120"/>
              </a:rPr>
              <a:t>• Comprehensive Subjects Table
</a:t>
            </a:r>
            <a:pPr indent="0" marL="0">
              <a:buNone/>
            </a:pPr>
            <a:r>
              <a:rPr lang="en-US" sz="950" dirty="0">
                <a:solidFill>
                  <a:srgbClr val="334155"/>
                </a:solidFill>
                <a:latin typeface="Arial" pitchFamily="34" charset="0"/>
                <a:ea typeface="Arial" pitchFamily="34" charset="-122"/>
                <a:cs typeface="Arial" pitchFamily="34" charset="-120"/>
              </a:rPr>
              <a:t>   Detailed view of enrolled subjects: course codes, course descriptions, units, and instructors.
</a:t>
            </a:r>
            <a:pPr indent="0" marL="0">
              <a:buNone/>
            </a:pPr>
            <a:r>
              <a:rPr lang="en-US" sz="950" b="1" dirty="0">
                <a:solidFill>
                  <a:srgbClr val="0F172A"/>
                </a:solidFill>
                <a:latin typeface="Arial" pitchFamily="34" charset="0"/>
                <a:ea typeface="Arial" pitchFamily="34" charset="-122"/>
                <a:cs typeface="Arial" pitchFamily="34" charset="-120"/>
              </a:rPr>
              <a:t>• Multi-Term Curriculum History
</a:t>
            </a:r>
            <a:pPr indent="0" marL="0">
              <a:buNone/>
            </a:pPr>
            <a:r>
              <a:rPr lang="en-US" sz="950" dirty="0">
                <a:solidFill>
                  <a:srgbClr val="334155"/>
                </a:solidFill>
                <a:latin typeface="Arial" pitchFamily="34" charset="0"/>
                <a:ea typeface="Arial" pitchFamily="34" charset="-122"/>
                <a:cs typeface="Arial" pitchFamily="34" charset="-120"/>
              </a:rPr>
              <a:t>   Year-level tabs allowing students to review past courses from 1st Year to 3rd Year.</a:t>
            </a:r>
            <a:endParaRPr lang="en-US" sz="950" dirty="0"/>
          </a:p>
        </p:txBody>
      </p:sp>
      <p:sp>
        <p:nvSpPr>
          <p:cNvPr id="11" name="Shape 9"/>
          <p:cNvSpPr/>
          <p:nvPr/>
        </p:nvSpPr>
        <p:spPr>
          <a:xfrm>
            <a:off x="4709160" y="1143000"/>
            <a:ext cx="3703320" cy="3429000"/>
          </a:xfrm>
          <a:prstGeom prst="rect">
            <a:avLst/>
          </a:prstGeom>
          <a:solidFill>
            <a:srgbClr val="FFFFFF"/>
          </a:solidFill>
          <a:ln w="12700">
            <a:solidFill>
              <a:srgbClr val="E2E8F0"/>
            </a:solidFill>
            <a:prstDash val="solid"/>
          </a:ln>
        </p:spPr>
      </p:sp>
      <p:sp>
        <p:nvSpPr>
          <p:cNvPr id="12" name="Text 10"/>
          <p:cNvSpPr/>
          <p:nvPr/>
        </p:nvSpPr>
        <p:spPr>
          <a:xfrm>
            <a:off x="498348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DIGITAL SUBMISSION VAULT</a:t>
            </a:r>
            <a:endParaRPr lang="en-US" sz="1200" dirty="0"/>
          </a:p>
        </p:txBody>
      </p:sp>
      <p:sp>
        <p:nvSpPr>
          <p:cNvPr id="13" name="Text 11"/>
          <p:cNvSpPr/>
          <p:nvPr/>
        </p:nvSpPr>
        <p:spPr>
          <a:xfrm>
            <a:off x="498348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Course-Specific Submissions
</a:t>
            </a:r>
            <a:pPr indent="0" marL="0">
              <a:buNone/>
            </a:pPr>
            <a:r>
              <a:rPr lang="en-US" sz="950" dirty="0">
                <a:solidFill>
                  <a:srgbClr val="334155"/>
                </a:solidFill>
                <a:latin typeface="Arial" pitchFamily="34" charset="0"/>
                <a:ea typeface="Arial" pitchFamily="34" charset="-122"/>
                <a:cs typeface="Arial" pitchFamily="34" charset="-120"/>
              </a:rPr>
              <a:t>   Students select the target enrolled course from a dropdown selector.
</a:t>
            </a:r>
            <a:pPr indent="0" marL="0">
              <a:buNone/>
            </a:pPr>
            <a:r>
              <a:rPr lang="en-US" sz="950" b="1" dirty="0">
                <a:solidFill>
                  <a:srgbClr val="0F172A"/>
                </a:solidFill>
                <a:latin typeface="Arial" pitchFamily="34" charset="0"/>
                <a:ea typeface="Arial" pitchFamily="34" charset="-122"/>
                <a:cs typeface="Arial" pitchFamily="34" charset="-120"/>
              </a:rPr>
              <a:t>• Drag-and-Drop File Upload
</a:t>
            </a:r>
            <a:pPr indent="0" marL="0">
              <a:buNone/>
            </a:pPr>
            <a:r>
              <a:rPr lang="en-US" sz="950" dirty="0">
                <a:solidFill>
                  <a:srgbClr val="334155"/>
                </a:solidFill>
                <a:latin typeface="Arial" pitchFamily="34" charset="0"/>
                <a:ea typeface="Arial" pitchFamily="34" charset="-122"/>
                <a:cs typeface="Arial" pitchFamily="34" charset="-120"/>
              </a:rPr>
              <a:t>   Supports project archives, PDF reports, and documentation deliverables.
</a:t>
            </a:r>
            <a:pPr indent="0" marL="0">
              <a:buNone/>
            </a:pPr>
            <a:r>
              <a:rPr lang="en-US" sz="950" b="1" dirty="0">
                <a:solidFill>
                  <a:srgbClr val="0F172A"/>
                </a:solidFill>
                <a:latin typeface="Arial" pitchFamily="34" charset="0"/>
                <a:ea typeface="Arial" pitchFamily="34" charset="-122"/>
                <a:cs typeface="Arial" pitchFamily="34" charset="-120"/>
              </a:rPr>
              <a:t>• Submission Status Confirmation
</a:t>
            </a:r>
            <a:pPr indent="0" marL="0">
              <a:buNone/>
            </a:pPr>
            <a:r>
              <a:rPr lang="en-US" sz="950" dirty="0">
                <a:solidFill>
                  <a:srgbClr val="334155"/>
                </a:solidFill>
                <a:latin typeface="Arial" pitchFamily="34" charset="0"/>
                <a:ea typeface="Arial" pitchFamily="34" charset="-122"/>
                <a:cs typeface="Arial" pitchFamily="34" charset="-120"/>
              </a:rPr>
              <a:t>   Provides instant visual feedback confirming receipt of the academic submission.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A1315"/>
          </a:solidFill>
          <a:ln w="12700">
            <a:solidFill>
              <a:srgbClr val="7A1315"/>
            </a:solidFill>
            <a:prstDash val="solid"/>
          </a:ln>
        </p:spPr>
      </p:sp>
      <p:sp>
        <p:nvSpPr>
          <p:cNvPr id="3" name="Text 1"/>
          <p:cNvSpPr/>
          <p:nvPr/>
        </p:nvSpPr>
        <p:spPr>
          <a:xfrm>
            <a:off x="731520" y="256032"/>
            <a:ext cx="7680960" cy="228600"/>
          </a:xfrm>
          <a:prstGeom prst="rect">
            <a:avLst/>
          </a:prstGeom>
          <a:noFill/>
          <a:ln/>
        </p:spPr>
        <p:txBody>
          <a:bodyPr wrap="square" lIns="0" tIns="0" rIns="0" bIns="0" rtlCol="0" anchor="ctr"/>
          <a:lstStyle/>
          <a:p>
            <a:pPr indent="0" marL="0">
              <a:buNone/>
            </a:pPr>
            <a:r>
              <a:rPr lang="en-US" sz="900" b="1" dirty="0">
                <a:solidFill>
                  <a:srgbClr val="C89D2B"/>
                </a:solidFill>
                <a:latin typeface="Arial" pitchFamily="34" charset="0"/>
                <a:ea typeface="Arial" pitchFamily="34" charset="-122"/>
                <a:cs typeface="Arial" pitchFamily="34" charset="-120"/>
              </a:rPr>
              <a:t>PRESENTER: BAUTISTA, YESHUA CYRUS</a:t>
            </a:r>
            <a:endParaRPr lang="en-US" sz="900" dirty="0"/>
          </a:p>
        </p:txBody>
      </p:sp>
      <p:sp>
        <p:nvSpPr>
          <p:cNvPr id="4" name="Text 2"/>
          <p:cNvSpPr/>
          <p:nvPr/>
        </p:nvSpPr>
        <p:spPr>
          <a:xfrm>
            <a:off x="731520" y="475488"/>
            <a:ext cx="7680960" cy="457200"/>
          </a:xfrm>
          <a:prstGeom prst="rect">
            <a:avLst/>
          </a:prstGeom>
          <a:noFill/>
          <a:ln/>
        </p:spPr>
        <p:txBody>
          <a:bodyPr wrap="square" lIns="0" tIns="0" rIns="0" bIns="0" rtlCol="0" anchor="ctr"/>
          <a:lstStyle/>
          <a:p>
            <a:pPr indent="0" marL="0">
              <a:buNone/>
            </a:pPr>
            <a:r>
              <a:rPr lang="en-US" sz="2000" b="1" dirty="0">
                <a:solidFill>
                  <a:srgbClr val="7A1315"/>
                </a:solidFill>
                <a:latin typeface="Arial" pitchFamily="34" charset="0"/>
                <a:ea typeface="Arial" pitchFamily="34" charset="-122"/>
                <a:cs typeface="Arial" pitchFamily="34" charset="-120"/>
              </a:rPr>
              <a:t>Module 4: Finance &amp; Perpetual DALTA Card</a:t>
            </a:r>
            <a:endParaRPr lang="en-US" sz="2000" dirty="0"/>
          </a:p>
        </p:txBody>
      </p:sp>
      <p:sp>
        <p:nvSpPr>
          <p:cNvPr id="5" name="Shape 3"/>
          <p:cNvSpPr/>
          <p:nvPr/>
        </p:nvSpPr>
        <p:spPr>
          <a:xfrm>
            <a:off x="731520" y="960120"/>
            <a:ext cx="7680960" cy="13716"/>
          </a:xfrm>
          <a:prstGeom prst="rect">
            <a:avLst/>
          </a:prstGeom>
          <a:solidFill>
            <a:srgbClr val="E2E8F0"/>
          </a:solidFill>
          <a:ln w="12700">
            <a:solidFill>
              <a:srgbClr val="E2E8F0"/>
            </a:solidFill>
            <a:prstDash val="solid"/>
          </a:ln>
        </p:spPr>
      </p:sp>
      <p:sp>
        <p:nvSpPr>
          <p:cNvPr id="6" name="Text 4"/>
          <p:cNvSpPr/>
          <p:nvPr/>
        </p:nvSpPr>
        <p:spPr>
          <a:xfrm>
            <a:off x="731520" y="4800600"/>
            <a:ext cx="640080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University of Perpetual Help System DALTA – Molino Campus  |  Group 1</a:t>
            </a:r>
            <a:endParaRPr lang="en-US" sz="850" dirty="0"/>
          </a:p>
        </p:txBody>
      </p:sp>
      <p:sp>
        <p:nvSpPr>
          <p:cNvPr id="7" name="Text 5"/>
          <p:cNvSpPr/>
          <p:nvPr/>
        </p:nvSpPr>
        <p:spPr>
          <a:xfrm>
            <a:off x="7498080" y="4800600"/>
            <a:ext cx="914400" cy="228600"/>
          </a:xfrm>
          <a:prstGeom prst="rect">
            <a:avLst/>
          </a:prstGeom>
          <a:noFill/>
          <a:ln/>
        </p:spPr>
        <p:txBody>
          <a:bodyPr wrap="square" lIns="0" tIns="0" rIns="0" bIns="0"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6</a:t>
            </a:r>
            <a:endParaRPr lang="en-US" sz="850" dirty="0"/>
          </a:p>
        </p:txBody>
      </p:sp>
      <p:sp>
        <p:nvSpPr>
          <p:cNvPr id="8" name="Shape 6"/>
          <p:cNvSpPr/>
          <p:nvPr/>
        </p:nvSpPr>
        <p:spPr>
          <a:xfrm>
            <a:off x="731520" y="1143000"/>
            <a:ext cx="3703320" cy="3429000"/>
          </a:xfrm>
          <a:prstGeom prst="rect">
            <a:avLst/>
          </a:prstGeom>
          <a:solidFill>
            <a:srgbClr val="FFFFFF"/>
          </a:solidFill>
          <a:ln w="12700">
            <a:solidFill>
              <a:srgbClr val="E2E8F0"/>
            </a:solidFill>
            <a:prstDash val="solid"/>
          </a:ln>
        </p:spPr>
      </p:sp>
      <p:sp>
        <p:nvSpPr>
          <p:cNvPr id="9" name="Text 7"/>
          <p:cNvSpPr/>
          <p:nvPr/>
        </p:nvSpPr>
        <p:spPr>
          <a:xfrm>
            <a:off x="100584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PERPETUAL CARD &amp; CASH-IN</a:t>
            </a:r>
            <a:endParaRPr lang="en-US" sz="1200" dirty="0"/>
          </a:p>
        </p:txBody>
      </p:sp>
      <p:sp>
        <p:nvSpPr>
          <p:cNvPr id="10" name="Text 8"/>
          <p:cNvSpPr/>
          <p:nvPr/>
        </p:nvSpPr>
        <p:spPr>
          <a:xfrm>
            <a:off x="100584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Virtual Perpetual DALTA Card
</a:t>
            </a:r>
            <a:pPr indent="0" marL="0">
              <a:buNone/>
            </a:pPr>
            <a:r>
              <a:rPr lang="en-US" sz="950" dirty="0">
                <a:solidFill>
                  <a:srgbClr val="334155"/>
                </a:solidFill>
                <a:latin typeface="Arial" pitchFamily="34" charset="0"/>
                <a:ea typeface="Arial" pitchFamily="34" charset="-122"/>
                <a:cs typeface="Arial" pitchFamily="34" charset="-120"/>
              </a:rPr>
              <a:t>   Displays real-time card balance, student name, card number, and RFID chip tag.
</a:t>
            </a:r>
            <a:pPr indent="0" marL="0">
              <a:buNone/>
            </a:pPr>
            <a:r>
              <a:rPr lang="en-US" sz="950" b="1" dirty="0">
                <a:solidFill>
                  <a:srgbClr val="0F172A"/>
                </a:solidFill>
                <a:latin typeface="Arial" pitchFamily="34" charset="0"/>
                <a:ea typeface="Arial" pitchFamily="34" charset="-122"/>
                <a:cs typeface="Arial" pitchFamily="34" charset="-120"/>
              </a:rPr>
              <a:t>• Two Clean Action Buttons
</a:t>
            </a:r>
            <a:pPr indent="0" marL="0">
              <a:buNone/>
            </a:pPr>
            <a:r>
              <a:rPr lang="en-US" sz="950" dirty="0">
                <a:solidFill>
                  <a:srgbClr val="334155"/>
                </a:solidFill>
                <a:latin typeface="Arial" pitchFamily="34" charset="0"/>
                <a:ea typeface="Arial" pitchFamily="34" charset="-122"/>
                <a:cs typeface="Arial" pitchFamily="34" charset="-120"/>
              </a:rPr>
              <a:t>   Simplified navigation: "Cash In to Card" and "Pay Tuition Fee" with dedicated pages.
</a:t>
            </a:r>
            <a:pPr indent="0" marL="0">
              <a:buNone/>
            </a:pPr>
            <a:r>
              <a:rPr lang="en-US" sz="950" b="1" dirty="0">
                <a:solidFill>
                  <a:srgbClr val="0F172A"/>
                </a:solidFill>
                <a:latin typeface="Arial" pitchFamily="34" charset="0"/>
                <a:ea typeface="Arial" pitchFamily="34" charset="-122"/>
                <a:cs typeface="Arial" pitchFamily="34" charset="-120"/>
              </a:rPr>
              <a:t>• 24/7 Multi-Channel Top-Up
</a:t>
            </a:r>
            <a:pPr indent="0" marL="0">
              <a:buNone/>
            </a:pPr>
            <a:r>
              <a:rPr lang="en-US" sz="950" dirty="0">
                <a:solidFill>
                  <a:srgbClr val="334155"/>
                </a:solidFill>
                <a:latin typeface="Arial" pitchFamily="34" charset="0"/>
                <a:ea typeface="Arial" pitchFamily="34" charset="-122"/>
                <a:cs typeface="Arial" pitchFamily="34" charset="-120"/>
              </a:rPr>
              <a:t>   Instant top-up via GCash, Maya, Bank Transfer, or 7-Eleven with zero cashier line.</a:t>
            </a:r>
            <a:endParaRPr lang="en-US" sz="950" dirty="0"/>
          </a:p>
        </p:txBody>
      </p:sp>
      <p:sp>
        <p:nvSpPr>
          <p:cNvPr id="11" name="Shape 9"/>
          <p:cNvSpPr/>
          <p:nvPr/>
        </p:nvSpPr>
        <p:spPr>
          <a:xfrm>
            <a:off x="4709160" y="1143000"/>
            <a:ext cx="3703320" cy="3429000"/>
          </a:xfrm>
          <a:prstGeom prst="rect">
            <a:avLst/>
          </a:prstGeom>
          <a:solidFill>
            <a:srgbClr val="FFFFFF"/>
          </a:solidFill>
          <a:ln w="12700">
            <a:solidFill>
              <a:srgbClr val="E2E8F0"/>
            </a:solidFill>
            <a:prstDash val="solid"/>
          </a:ln>
        </p:spPr>
      </p:sp>
      <p:sp>
        <p:nvSpPr>
          <p:cNvPr id="12" name="Text 10"/>
          <p:cNvSpPr/>
          <p:nvPr/>
        </p:nvSpPr>
        <p:spPr>
          <a:xfrm>
            <a:off x="498348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TUITION &amp; OFFICIAL RECEIPTS</a:t>
            </a:r>
            <a:endParaRPr lang="en-US" sz="1200" dirty="0"/>
          </a:p>
        </p:txBody>
      </p:sp>
      <p:sp>
        <p:nvSpPr>
          <p:cNvPr id="13" name="Text 11"/>
          <p:cNvSpPr/>
          <p:nvPr/>
        </p:nvSpPr>
        <p:spPr>
          <a:xfrm>
            <a:off x="498348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Instant Tuition Settlement
</a:t>
            </a:r>
            <a:pPr indent="0" marL="0">
              <a:buNone/>
            </a:pPr>
            <a:r>
              <a:rPr lang="en-US" sz="950" dirty="0">
                <a:solidFill>
                  <a:srgbClr val="334155"/>
                </a:solidFill>
                <a:latin typeface="Arial" pitchFamily="34" charset="0"/>
                <a:ea typeface="Arial" pitchFamily="34" charset="-122"/>
                <a:cs typeface="Arial" pitchFamily="34" charset="-120"/>
              </a:rPr>
              <a:t>   One-click tuition deduction directly clearing exam permit eligibility.
</a:t>
            </a:r>
            <a:pPr indent="0" marL="0">
              <a:buNone/>
            </a:pPr>
            <a:r>
              <a:rPr lang="en-US" sz="950" b="1" dirty="0">
                <a:solidFill>
                  <a:srgbClr val="0F172A"/>
                </a:solidFill>
                <a:latin typeface="Arial" pitchFamily="34" charset="0"/>
                <a:ea typeface="Arial" pitchFamily="34" charset="-122"/>
                <a:cs typeface="Arial" pitchFamily="34" charset="-120"/>
              </a:rPr>
              <a:t>• Molino Electronic Official Receipt
</a:t>
            </a:r>
            <a:pPr indent="0" marL="0">
              <a:buNone/>
            </a:pPr>
            <a:r>
              <a:rPr lang="en-US" sz="950" dirty="0">
                <a:solidFill>
                  <a:srgbClr val="334155"/>
                </a:solidFill>
                <a:latin typeface="Arial" pitchFamily="34" charset="0"/>
                <a:ea typeface="Arial" pitchFamily="34" charset="-122"/>
                <a:cs typeface="Arial" pitchFamily="34" charset="-120"/>
              </a:rPr>
              <a:t>   Generates an audit-validated soft copy with Molino Campus address, serial #, and stamp seal.
</a:t>
            </a:r>
            <a:pPr indent="0" marL="0">
              <a:buNone/>
            </a:pPr>
            <a:r>
              <a:rPr lang="en-US" sz="950" b="1" dirty="0">
                <a:solidFill>
                  <a:srgbClr val="0F172A"/>
                </a:solidFill>
                <a:latin typeface="Arial" pitchFamily="34" charset="0"/>
                <a:ea typeface="Arial" pitchFamily="34" charset="-122"/>
                <a:cs typeface="Arial" pitchFamily="34" charset="-120"/>
              </a:rPr>
              <a:t>• Real-Time Statement of Account
</a:t>
            </a:r>
            <a:pPr indent="0" marL="0">
              <a:buNone/>
            </a:pPr>
            <a:r>
              <a:rPr lang="en-US" sz="950" dirty="0">
                <a:solidFill>
                  <a:srgbClr val="334155"/>
                </a:solidFill>
                <a:latin typeface="Arial" pitchFamily="34" charset="0"/>
                <a:ea typeface="Arial" pitchFamily="34" charset="-122"/>
                <a:cs typeface="Arial" pitchFamily="34" charset="-120"/>
              </a:rPr>
              <a:t>   Complete student ledger recording debits, credits, OR serials, and printable SOA.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A1315"/>
          </a:solidFill>
          <a:ln w="12700">
            <a:solidFill>
              <a:srgbClr val="7A1315"/>
            </a:solidFill>
            <a:prstDash val="solid"/>
          </a:ln>
        </p:spPr>
      </p:sp>
      <p:sp>
        <p:nvSpPr>
          <p:cNvPr id="3" name="Text 1"/>
          <p:cNvSpPr/>
          <p:nvPr/>
        </p:nvSpPr>
        <p:spPr>
          <a:xfrm>
            <a:off x="731520" y="256032"/>
            <a:ext cx="7680960" cy="228600"/>
          </a:xfrm>
          <a:prstGeom prst="rect">
            <a:avLst/>
          </a:prstGeom>
          <a:noFill/>
          <a:ln/>
        </p:spPr>
        <p:txBody>
          <a:bodyPr wrap="square" lIns="0" tIns="0" rIns="0" bIns="0" rtlCol="0" anchor="ctr"/>
          <a:lstStyle/>
          <a:p>
            <a:pPr indent="0" marL="0">
              <a:buNone/>
            </a:pPr>
            <a:r>
              <a:rPr lang="en-US" sz="900" b="1" dirty="0">
                <a:solidFill>
                  <a:srgbClr val="C89D2B"/>
                </a:solidFill>
                <a:latin typeface="Arial" pitchFamily="34" charset="0"/>
                <a:ea typeface="Arial" pitchFamily="34" charset="-122"/>
                <a:cs typeface="Arial" pitchFamily="34" charset="-120"/>
              </a:rPr>
              <a:t>PRESENTER: ROLDAN, MICKEY JOHN</a:t>
            </a:r>
            <a:endParaRPr lang="en-US" sz="900" dirty="0"/>
          </a:p>
        </p:txBody>
      </p:sp>
      <p:sp>
        <p:nvSpPr>
          <p:cNvPr id="4" name="Text 2"/>
          <p:cNvSpPr/>
          <p:nvPr/>
        </p:nvSpPr>
        <p:spPr>
          <a:xfrm>
            <a:off x="731520" y="475488"/>
            <a:ext cx="7680960" cy="457200"/>
          </a:xfrm>
          <a:prstGeom prst="rect">
            <a:avLst/>
          </a:prstGeom>
          <a:noFill/>
          <a:ln/>
        </p:spPr>
        <p:txBody>
          <a:bodyPr wrap="square" lIns="0" tIns="0" rIns="0" bIns="0" rtlCol="0" anchor="ctr"/>
          <a:lstStyle/>
          <a:p>
            <a:pPr indent="0" marL="0">
              <a:buNone/>
            </a:pPr>
            <a:r>
              <a:rPr lang="en-US" sz="2000" b="1" dirty="0">
                <a:solidFill>
                  <a:srgbClr val="7A1315"/>
                </a:solidFill>
                <a:latin typeface="Arial" pitchFamily="34" charset="0"/>
                <a:ea typeface="Arial" pitchFamily="34" charset="-122"/>
                <a:cs typeface="Arial" pitchFamily="34" charset="-120"/>
              </a:rPr>
              <a:t>Module 5: Portal Settings &amp; Conclusion</a:t>
            </a:r>
            <a:endParaRPr lang="en-US" sz="2000" dirty="0"/>
          </a:p>
        </p:txBody>
      </p:sp>
      <p:sp>
        <p:nvSpPr>
          <p:cNvPr id="5" name="Shape 3"/>
          <p:cNvSpPr/>
          <p:nvPr/>
        </p:nvSpPr>
        <p:spPr>
          <a:xfrm>
            <a:off x="731520" y="960120"/>
            <a:ext cx="7680960" cy="13716"/>
          </a:xfrm>
          <a:prstGeom prst="rect">
            <a:avLst/>
          </a:prstGeom>
          <a:solidFill>
            <a:srgbClr val="E2E8F0"/>
          </a:solidFill>
          <a:ln w="12700">
            <a:solidFill>
              <a:srgbClr val="E2E8F0"/>
            </a:solidFill>
            <a:prstDash val="solid"/>
          </a:ln>
        </p:spPr>
      </p:sp>
      <p:sp>
        <p:nvSpPr>
          <p:cNvPr id="6" name="Text 4"/>
          <p:cNvSpPr/>
          <p:nvPr/>
        </p:nvSpPr>
        <p:spPr>
          <a:xfrm>
            <a:off x="731520" y="4800600"/>
            <a:ext cx="640080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University of Perpetual Help System DALTA – Molino Campus  |  Group 1</a:t>
            </a:r>
            <a:endParaRPr lang="en-US" sz="850" dirty="0"/>
          </a:p>
        </p:txBody>
      </p:sp>
      <p:sp>
        <p:nvSpPr>
          <p:cNvPr id="7" name="Text 5"/>
          <p:cNvSpPr/>
          <p:nvPr/>
        </p:nvSpPr>
        <p:spPr>
          <a:xfrm>
            <a:off x="7498080" y="4800600"/>
            <a:ext cx="914400" cy="228600"/>
          </a:xfrm>
          <a:prstGeom prst="rect">
            <a:avLst/>
          </a:prstGeom>
          <a:noFill/>
          <a:ln/>
        </p:spPr>
        <p:txBody>
          <a:bodyPr wrap="square" lIns="0" tIns="0" rIns="0" bIns="0"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7</a:t>
            </a:r>
            <a:endParaRPr lang="en-US" sz="850" dirty="0"/>
          </a:p>
        </p:txBody>
      </p:sp>
      <p:sp>
        <p:nvSpPr>
          <p:cNvPr id="8" name="Shape 6"/>
          <p:cNvSpPr/>
          <p:nvPr/>
        </p:nvSpPr>
        <p:spPr>
          <a:xfrm>
            <a:off x="731520" y="1143000"/>
            <a:ext cx="3703320" cy="3429000"/>
          </a:xfrm>
          <a:prstGeom prst="rect">
            <a:avLst/>
          </a:prstGeom>
          <a:solidFill>
            <a:srgbClr val="FFFFFF"/>
          </a:solidFill>
          <a:ln w="12700">
            <a:solidFill>
              <a:srgbClr val="E2E8F0"/>
            </a:solidFill>
            <a:prstDash val="solid"/>
          </a:ln>
        </p:spPr>
      </p:sp>
      <p:sp>
        <p:nvSpPr>
          <p:cNvPr id="9" name="Text 7"/>
          <p:cNvSpPr/>
          <p:nvPr/>
        </p:nvSpPr>
        <p:spPr>
          <a:xfrm>
            <a:off x="100584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PROFILE &amp; PREFERENCES</a:t>
            </a:r>
            <a:endParaRPr lang="en-US" sz="1200" dirty="0"/>
          </a:p>
        </p:txBody>
      </p:sp>
      <p:sp>
        <p:nvSpPr>
          <p:cNvPr id="10" name="Text 8"/>
          <p:cNvSpPr/>
          <p:nvPr/>
        </p:nvSpPr>
        <p:spPr>
          <a:xfrm>
            <a:off x="100584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Student Account Management
</a:t>
            </a:r>
            <a:pPr indent="0" marL="0">
              <a:buNone/>
            </a:pPr>
            <a:r>
              <a:rPr lang="en-US" sz="950" dirty="0">
                <a:solidFill>
                  <a:srgbClr val="334155"/>
                </a:solidFill>
                <a:latin typeface="Arial" pitchFamily="34" charset="0"/>
                <a:ea typeface="Arial" pitchFamily="34" charset="-122"/>
                <a:cs typeface="Arial" pitchFamily="34" charset="-120"/>
              </a:rPr>
              <a:t>   Allows students to manage full name, academic major, and verified school email.
</a:t>
            </a:r>
            <a:pPr indent="0" marL="0">
              <a:buNone/>
            </a:pPr>
            <a:r>
              <a:rPr lang="en-US" sz="950" b="1" dirty="0">
                <a:solidFill>
                  <a:srgbClr val="0F172A"/>
                </a:solidFill>
                <a:latin typeface="Arial" pitchFamily="34" charset="0"/>
                <a:ea typeface="Arial" pitchFamily="34" charset="-122"/>
                <a:cs typeface="Arial" pitchFamily="34" charset="-120"/>
              </a:rPr>
              <a:t>• AI Schedule Assistant Toggle
</a:t>
            </a:r>
            <a:pPr indent="0" marL="0">
              <a:buNone/>
            </a:pPr>
            <a:r>
              <a:rPr lang="en-US" sz="950" dirty="0">
                <a:solidFill>
                  <a:srgbClr val="334155"/>
                </a:solidFill>
                <a:latin typeface="Arial" pitchFamily="34" charset="0"/>
                <a:ea typeface="Arial" pitchFamily="34" charset="-122"/>
                <a:cs typeface="Arial" pitchFamily="34" charset="-120"/>
              </a:rPr>
              <a:t>   Enables or disables smart schedule suggestions and deadline reminders.
</a:t>
            </a:r>
            <a:pPr indent="0" marL="0">
              <a:buNone/>
            </a:pPr>
            <a:r>
              <a:rPr lang="en-US" sz="950" b="1" dirty="0">
                <a:solidFill>
                  <a:srgbClr val="0F172A"/>
                </a:solidFill>
                <a:latin typeface="Arial" pitchFamily="34" charset="0"/>
                <a:ea typeface="Arial" pitchFamily="34" charset="-122"/>
                <a:cs typeface="Arial" pitchFamily="34" charset="-120"/>
              </a:rPr>
              <a:t>• Notifications &amp; Fast Checkout
</a:t>
            </a:r>
            <a:pPr indent="0" marL="0">
              <a:buNone/>
            </a:pPr>
            <a:r>
              <a:rPr lang="en-US" sz="950" dirty="0">
                <a:solidFill>
                  <a:srgbClr val="334155"/>
                </a:solidFill>
                <a:latin typeface="Arial" pitchFamily="34" charset="0"/>
                <a:ea typeface="Arial" pitchFamily="34" charset="-122"/>
                <a:cs typeface="Arial" pitchFamily="34" charset="-120"/>
              </a:rPr>
              <a:t>   Customizable grade release alerts and 1-click remembered payment channels.</a:t>
            </a:r>
            <a:endParaRPr lang="en-US" sz="950" dirty="0"/>
          </a:p>
        </p:txBody>
      </p:sp>
      <p:sp>
        <p:nvSpPr>
          <p:cNvPr id="11" name="Shape 9"/>
          <p:cNvSpPr/>
          <p:nvPr/>
        </p:nvSpPr>
        <p:spPr>
          <a:xfrm>
            <a:off x="4709160" y="1143000"/>
            <a:ext cx="3703320" cy="3429000"/>
          </a:xfrm>
          <a:prstGeom prst="rect">
            <a:avLst/>
          </a:prstGeom>
          <a:solidFill>
            <a:srgbClr val="FFFFFF"/>
          </a:solidFill>
          <a:ln w="12700">
            <a:solidFill>
              <a:srgbClr val="E2E8F0"/>
            </a:solidFill>
            <a:prstDash val="solid"/>
          </a:ln>
        </p:spPr>
      </p:sp>
      <p:sp>
        <p:nvSpPr>
          <p:cNvPr id="12" name="Text 10"/>
          <p:cNvSpPr/>
          <p:nvPr/>
        </p:nvSpPr>
        <p:spPr>
          <a:xfrm>
            <a:off x="4983480" y="1371600"/>
            <a:ext cx="3200400" cy="274320"/>
          </a:xfrm>
          <a:prstGeom prst="rect">
            <a:avLst/>
          </a:prstGeom>
          <a:noFill/>
          <a:ln/>
        </p:spPr>
        <p:txBody>
          <a:bodyPr wrap="square" lIns="0" tIns="0" rIns="0" bIns="0" rtlCol="0" anchor="ctr"/>
          <a:lstStyle/>
          <a:p>
            <a:pPr indent="0" marL="0">
              <a:buNone/>
            </a:pPr>
            <a:r>
              <a:rPr lang="en-US" sz="1200" b="1" dirty="0">
                <a:solidFill>
                  <a:srgbClr val="7A1315"/>
                </a:solidFill>
                <a:latin typeface="Arial" pitchFamily="34" charset="0"/>
                <a:ea typeface="Arial" pitchFamily="34" charset="-122"/>
                <a:cs typeface="Arial" pitchFamily="34" charset="-120"/>
              </a:rPr>
              <a:t>PROJECT IMPACT &amp; VALUE</a:t>
            </a:r>
            <a:endParaRPr lang="en-US" sz="1200" dirty="0"/>
          </a:p>
        </p:txBody>
      </p:sp>
      <p:sp>
        <p:nvSpPr>
          <p:cNvPr id="13" name="Text 11"/>
          <p:cNvSpPr/>
          <p:nvPr/>
        </p:nvSpPr>
        <p:spPr>
          <a:xfrm>
            <a:off x="4983480" y="1737360"/>
            <a:ext cx="3200400" cy="2606040"/>
          </a:xfrm>
          <a:prstGeom prst="rect">
            <a:avLst/>
          </a:prstGeom>
          <a:noFill/>
          <a:ln/>
        </p:spPr>
        <p:txBody>
          <a:bodyPr wrap="square" lIns="0" tIns="0" rIns="0" bIns="0" rtlCol="0" anchor="ctr"/>
          <a:lstStyle/>
          <a:p>
            <a:pPr indent="0" marL="0">
              <a:buNone/>
            </a:pPr>
            <a:r>
              <a:rPr lang="en-US" sz="950" b="1" dirty="0">
                <a:solidFill>
                  <a:srgbClr val="0F172A"/>
                </a:solidFill>
                <a:latin typeface="Arial" pitchFamily="34" charset="0"/>
                <a:ea typeface="Arial" pitchFamily="34" charset="-122"/>
                <a:cs typeface="Arial" pitchFamily="34" charset="-120"/>
              </a:rPr>
              <a:t>• Centralized Simplicity
</a:t>
            </a:r>
            <a:pPr indent="0" marL="0">
              <a:buNone/>
            </a:pPr>
            <a:r>
              <a:rPr lang="en-US" sz="950" dirty="0">
                <a:solidFill>
                  <a:srgbClr val="334155"/>
                </a:solidFill>
                <a:latin typeface="Arial" pitchFamily="34" charset="0"/>
                <a:ea typeface="Arial" pitchFamily="34" charset="-122"/>
                <a:cs typeface="Arial" pitchFamily="34" charset="-120"/>
              </a:rPr>
              <a:t>   Eliminates portal fragmentation by consolidating daily academic life in one hub.
</a:t>
            </a:r>
            <a:pPr indent="0" marL="0">
              <a:buNone/>
            </a:pPr>
            <a:r>
              <a:rPr lang="en-US" sz="950" b="1" dirty="0">
                <a:solidFill>
                  <a:srgbClr val="0F172A"/>
                </a:solidFill>
                <a:latin typeface="Arial" pitchFamily="34" charset="0"/>
                <a:ea typeface="Arial" pitchFamily="34" charset="-122"/>
                <a:cs typeface="Arial" pitchFamily="34" charset="-120"/>
              </a:rPr>
              <a:t>• Zero Cashier Waiting Time
</a:t>
            </a:r>
            <a:pPr indent="0" marL="0">
              <a:buNone/>
            </a:pPr>
            <a:r>
              <a:rPr lang="en-US" sz="950" dirty="0">
                <a:solidFill>
                  <a:srgbClr val="334155"/>
                </a:solidFill>
                <a:latin typeface="Arial" pitchFamily="34" charset="0"/>
                <a:ea typeface="Arial" pitchFamily="34" charset="-122"/>
                <a:cs typeface="Arial" pitchFamily="34" charset="-120"/>
              </a:rPr>
              <a:t>   Students and parents top up and settle tuition 24/7 without standing in school queues.
</a:t>
            </a:r>
            <a:pPr indent="0" marL="0">
              <a:buNone/>
            </a:pPr>
            <a:r>
              <a:rPr lang="en-US" sz="950" b="1" dirty="0">
                <a:solidFill>
                  <a:srgbClr val="0F172A"/>
                </a:solidFill>
                <a:latin typeface="Arial" pitchFamily="34" charset="0"/>
                <a:ea typeface="Arial" pitchFamily="34" charset="-122"/>
                <a:cs typeface="Arial" pitchFamily="34" charset="-120"/>
              </a:rPr>
              <a:t>• Future-Ready Architecture
</a:t>
            </a:r>
            <a:pPr indent="0" marL="0">
              <a:buNone/>
            </a:pPr>
            <a:r>
              <a:rPr lang="en-US" sz="950" dirty="0">
                <a:solidFill>
                  <a:srgbClr val="334155"/>
                </a:solidFill>
                <a:latin typeface="Arial" pitchFamily="34" charset="0"/>
                <a:ea typeface="Arial" pitchFamily="34" charset="-122"/>
                <a:cs typeface="Arial" pitchFamily="34" charset="-120"/>
              </a:rPr>
              <a:t>   Modular structure ready for future institutional API integrations and live databases.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A131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9D2B"/>
          </a:solidFill>
          <a:ln w="12700">
            <a:solidFill>
              <a:srgbClr val="C89D2B"/>
            </a:solidFill>
            <a:prstDash val="solid"/>
          </a:ln>
        </p:spPr>
      </p:sp>
      <p:sp>
        <p:nvSpPr>
          <p:cNvPr id="3" name="Text 1"/>
          <p:cNvSpPr/>
          <p:nvPr/>
        </p:nvSpPr>
        <p:spPr>
          <a:xfrm>
            <a:off x="731520" y="914400"/>
            <a:ext cx="768096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Thank You!</a:t>
            </a:r>
            <a:endParaRPr lang="en-US" sz="3600" dirty="0"/>
          </a:p>
        </p:txBody>
      </p:sp>
      <p:sp>
        <p:nvSpPr>
          <p:cNvPr id="4" name="Text 2"/>
          <p:cNvSpPr/>
          <p:nvPr/>
        </p:nvSpPr>
        <p:spPr>
          <a:xfrm>
            <a:off x="731520" y="1691640"/>
            <a:ext cx="7680960" cy="365760"/>
          </a:xfrm>
          <a:prstGeom prst="rect">
            <a:avLst/>
          </a:prstGeom>
          <a:noFill/>
          <a:ln/>
        </p:spPr>
        <p:txBody>
          <a:bodyPr wrap="square" lIns="0" tIns="0" rIns="0" bIns="0" rtlCol="0" anchor="ctr"/>
          <a:lstStyle/>
          <a:p>
            <a:pPr algn="ctr" indent="0" marL="0">
              <a:buNone/>
            </a:pPr>
            <a:r>
              <a:rPr lang="en-US" sz="1600" b="1" dirty="0">
                <a:solidFill>
                  <a:srgbClr val="C89D2B"/>
                </a:solidFill>
                <a:latin typeface="Arial" pitchFamily="34" charset="0"/>
                <a:ea typeface="Arial" pitchFamily="34" charset="-122"/>
                <a:cs typeface="Arial" pitchFamily="34" charset="-120"/>
              </a:rPr>
              <a:t>Questions &amp; Live Demonstration</a:t>
            </a:r>
            <a:endParaRPr lang="en-US" sz="1600" dirty="0"/>
          </a:p>
        </p:txBody>
      </p:sp>
      <p:sp>
        <p:nvSpPr>
          <p:cNvPr id="5" name="Shape 3"/>
          <p:cNvSpPr/>
          <p:nvPr/>
        </p:nvSpPr>
        <p:spPr>
          <a:xfrm>
            <a:off x="1371600" y="2240280"/>
            <a:ext cx="6400800" cy="2103120"/>
          </a:xfrm>
          <a:prstGeom prst="rect">
            <a:avLst/>
          </a:prstGeom>
          <a:solidFill>
            <a:srgbClr val="540C0E"/>
          </a:solidFill>
          <a:ln w="12700">
            <a:solidFill>
              <a:srgbClr val="C89D2B"/>
            </a:solidFill>
            <a:prstDash val="solid"/>
          </a:ln>
        </p:spPr>
      </p:sp>
      <p:sp>
        <p:nvSpPr>
          <p:cNvPr id="6" name="Text 4"/>
          <p:cNvSpPr/>
          <p:nvPr/>
        </p:nvSpPr>
        <p:spPr>
          <a:xfrm>
            <a:off x="1371600" y="2423160"/>
            <a:ext cx="6400800" cy="274320"/>
          </a:xfrm>
          <a:prstGeom prst="rect">
            <a:avLst/>
          </a:prstGeom>
          <a:noFill/>
          <a:ln/>
        </p:spPr>
        <p:txBody>
          <a:bodyPr wrap="square" lIns="0" tIns="0" rIns="0" bIns="0" rtlCol="0" anchor="ctr"/>
          <a:lstStyle/>
          <a:p>
            <a:pPr algn="ctr" indent="0" marL="0">
              <a:buNone/>
            </a:pPr>
            <a:r>
              <a:rPr lang="en-US" sz="1100" b="1" dirty="0">
                <a:solidFill>
                  <a:srgbClr val="C89D2B"/>
                </a:solidFill>
                <a:latin typeface="Arial" pitchFamily="34" charset="0"/>
                <a:ea typeface="Arial" pitchFamily="34" charset="-122"/>
                <a:cs typeface="Arial" pitchFamily="34" charset="-120"/>
              </a:rPr>
              <a:t>GROUP 1 PROJECT TEAM</a:t>
            </a:r>
            <a:endParaRPr lang="en-US" sz="1100" dirty="0"/>
          </a:p>
        </p:txBody>
      </p:sp>
      <p:sp>
        <p:nvSpPr>
          <p:cNvPr id="7" name="Text 5"/>
          <p:cNvSpPr/>
          <p:nvPr/>
        </p:nvSpPr>
        <p:spPr>
          <a:xfrm>
            <a:off x="1554480" y="2834640"/>
            <a:ext cx="6035040" cy="1280160"/>
          </a:xfrm>
          <a:prstGeom prst="rect">
            <a:avLst/>
          </a:prstGeom>
          <a:noFill/>
          <a:ln/>
        </p:spPr>
        <p:txBody>
          <a:bodyPr wrap="square" lIns="0" tIns="0" rIns="0" bIns="0" rtlCol="0" anchor="ctr"/>
          <a:lstStyle/>
          <a:p>
            <a:pPr algn="ctr" indent="0" marL="0">
              <a:lnSpc>
                <a:spcPct val="120000"/>
              </a:lnSpc>
              <a:buNone/>
            </a:pPr>
            <a:r>
              <a:rPr lang="en-US" sz="1100" b="1" dirty="0">
                <a:solidFill>
                  <a:srgbClr val="FFFFFF"/>
                </a:solidFill>
                <a:latin typeface="Arial" pitchFamily="34" charset="0"/>
                <a:ea typeface="Arial" pitchFamily="34" charset="-122"/>
                <a:cs typeface="Arial" pitchFamily="34" charset="-120"/>
              </a:rPr>
              <a:t>Yeshua Cyrus Bautista  •  Kelvin Charles Cancio  •  Angella Shaolla Casul
</a:t>
            </a:r>
            <a:pPr algn="ctr" indent="0" marL="0">
              <a:lnSpc>
                <a:spcPct val="120000"/>
              </a:lnSpc>
              <a:buNone/>
            </a:pPr>
            <a:r>
              <a:rPr lang="en-US" sz="1100" b="1" dirty="0">
                <a:solidFill>
                  <a:srgbClr val="FFFFFF"/>
                </a:solidFill>
                <a:latin typeface="Arial" pitchFamily="34" charset="0"/>
                <a:ea typeface="Arial" pitchFamily="34" charset="-122"/>
                <a:cs typeface="Arial" pitchFamily="34" charset="-120"/>
              </a:rPr>
              <a:t>John Christian Estay  •  Mickey John Roldan
</a:t>
            </a:r>
            <a:pPr algn="ctr" indent="0" marL="0">
              <a:lnSpc>
                <a:spcPct val="120000"/>
              </a:lnSpc>
              <a:buNone/>
            </a:pPr>
            <a:r>
              <a:rPr lang="en-US" sz="900" dirty="0">
                <a:solidFill>
                  <a:srgbClr val="E2E8F0"/>
                </a:solidFill>
                <a:latin typeface="Arial" pitchFamily="34" charset="0"/>
                <a:ea typeface="Arial" pitchFamily="34" charset="-122"/>
                <a:cs typeface="Arial" pitchFamily="34" charset="-120"/>
              </a:rPr>
              <a:t>University of Perpetual Help System DALTA – Molino Campus</a:t>
            </a:r>
            <a:endParaRPr lang="en-US" sz="1100" dirty="0"/>
          </a:p>
          <a:p>
            <a:pPr algn="ctr" indent="0" marL="0">
              <a:lnSpc>
                <a:spcPct val="120000"/>
              </a:lnSpc>
              <a:buNone/>
            </a:pPr>
            <a:r>
              <a:rPr lang="en-US" sz="900" dirty="0">
                <a:solidFill>
                  <a:srgbClr val="E2E8F0"/>
                </a:solidFill>
                <a:latin typeface="Arial" pitchFamily="34" charset="0"/>
                <a:ea typeface="Arial" pitchFamily="34" charset="-122"/>
                <a:cs typeface="Arial" pitchFamily="34" charset="-120"/>
              </a:rPr>
              <a:t>College of Computer Studies • BS Information Technology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2026-09-27T12:21:35Z</dcterms:created>
  <dcterms:modified xsi:type="dcterms:W3CDTF">2026-09-27T12:21:35Z</dcterms:modified>
</cp:coreProperties>
</file>